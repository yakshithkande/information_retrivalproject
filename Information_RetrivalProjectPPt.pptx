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91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descr="关系图"/>
          <p:cNvPicPr>
            <a:picLocks noChangeAspect="1"/>
          </p:cNvPicPr>
          <p:nvPr/>
        </p:nvPicPr>
        <p:blipFill>
          <a:blip r:embed="rId2"/>
          <a:srcRect r="2528" b="10909"/>
          <a:stretch>
            <a:fillRect/>
          </a:stretch>
        </p:blipFill>
        <p:spPr>
          <a:xfrm>
            <a:off x="179388" y="692150"/>
            <a:ext cx="8913812" cy="6110288"/>
          </a:xfrm>
          <a:prstGeom prst="rect">
            <a:avLst/>
          </a:prstGeom>
          <a:noFill/>
          <a:ln w="9525">
            <a:noFill/>
          </a:ln>
        </p:spPr>
      </p:pic>
      <p:sp>
        <p:nvSpPr>
          <p:cNvPr id="10" name="Rectangle 7"/>
          <p:cNvSpPr>
            <a:spLocks noChangeArrowheads="1"/>
          </p:cNvSpPr>
          <p:nvPr/>
        </p:nvSpPr>
        <p:spPr bwMode="auto">
          <a:xfrm>
            <a:off x="1588" y="549275"/>
            <a:ext cx="9144000" cy="151130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2051" name="Rectangle 3"/>
          <p:cNvSpPr>
            <a:spLocks noChangeArrowheads="1"/>
          </p:cNvSpPr>
          <p:nvPr>
            <p:ph type="subTitle" idx="1"/>
          </p:nvPr>
        </p:nvSpPr>
        <p:spPr>
          <a:xfrm>
            <a:off x="1908175" y="2492375"/>
            <a:ext cx="5545138" cy="1222375"/>
          </a:xfrm>
        </p:spPr>
        <p:txBody>
          <a:bodyPr anchor="ctr"/>
          <a:lstStyle>
            <a:lvl1pPr marL="0" indent="0" algn="ctr">
              <a:buFontTx/>
              <a:buNone/>
              <a:defRPr/>
            </a:lvl1pPr>
          </a:lstStyle>
          <a:p>
            <a:pPr lvl="0"/>
            <a:r>
              <a:rPr lang="en-US" altLang="zh-CN" noProof="0" smtClean="0"/>
              <a:t>Click to edit Master subtitle style</a:t>
            </a:r>
            <a:endParaRPr lang="en-US" altLang="zh-CN" noProof="0" smtClean="0"/>
          </a:p>
        </p:txBody>
      </p:sp>
      <p:sp>
        <p:nvSpPr>
          <p:cNvPr id="2056" name="Rectangle 8"/>
          <p:cNvSpPr>
            <a:spLocks noChangeArrowheads="1"/>
          </p:cNvSpPr>
          <p:nvPr>
            <p:ph type="ctrTitle"/>
          </p:nvPr>
        </p:nvSpPr>
        <p:spPr>
          <a:xfrm>
            <a:off x="755650" y="620713"/>
            <a:ext cx="7772400" cy="1470025"/>
          </a:xfrm>
        </p:spPr>
        <p:txBody>
          <a:bodyPr/>
          <a:lstStyle>
            <a:lvl1pPr>
              <a:defRPr sz="3600"/>
            </a:lvl1pPr>
          </a:lstStyle>
          <a:p>
            <a:pPr lvl="0"/>
            <a:r>
              <a:rPr lang="en-US" altLang="zh-CN" noProof="0" smtClean="0"/>
              <a:t>Click to edit Master title style</a:t>
            </a:r>
            <a:endParaRPr lang="en-US" altLang="zh-CN" noProof="0" smtClean="0"/>
          </a:p>
        </p:txBody>
      </p:sp>
      <p:sp>
        <p:nvSpPr>
          <p:cNvPr id="11" name="Rectangle 4"/>
          <p:cNvSpPr>
            <a:spLocks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5BCAD085-E8A6-8845-BD4E-CB4CCA059FC4}" type="datetimeFigureOut">
              <a:rPr lang="en-US" smtClean="0"/>
            </a:fld>
            <a:endParaRPr lang="en-US"/>
          </a:p>
        </p:txBody>
      </p:sp>
      <p:sp>
        <p:nvSpPr>
          <p:cNvPr id="12" name="Rectangle 5"/>
          <p:cNvSpPr>
            <a:spLocks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3" name="Rectangle 6"/>
          <p:cNvSpPr>
            <a:spLocks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C1FF6DA9-008F-8B48-92A6-B652298478BF}"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ppt_x</p:attrName>
                                        </p:attrNameLst>
                                      </p:cBhvr>
                                      <p:tavLst>
                                        <p:tav tm="0">
                                          <p:val>
                                            <p:strVal val="#ppt_x-.2"/>
                                          </p:val>
                                        </p:tav>
                                        <p:tav tm="100000">
                                          <p:val>
                                            <p:strVal val="#ppt_x"/>
                                          </p:val>
                                        </p:tav>
                                      </p:tavLst>
                                    </p:anim>
                                    <p:anim calcmode="lin" valueType="num">
                                      <p:cBhvr>
                                        <p:cTn id="8"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auto">
          <a:xfrm>
            <a:off x="1588" y="333375"/>
            <a:ext cx="9144000" cy="100965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pic>
        <p:nvPicPr>
          <p:cNvPr id="1027" name="Picture 3" descr="关系图"/>
          <p:cNvPicPr>
            <a:picLocks noChangeAspect="1"/>
          </p:cNvPicPr>
          <p:nvPr/>
        </p:nvPicPr>
        <p:blipFill>
          <a:blip r:embed="rId12"/>
          <a:srcRect t="1094" r="8122" b="13318"/>
          <a:stretch>
            <a:fillRect/>
          </a:stretch>
        </p:blipFill>
        <p:spPr>
          <a:xfrm>
            <a:off x="5797550" y="4438650"/>
            <a:ext cx="3340100" cy="2333625"/>
          </a:xfrm>
          <a:prstGeom prst="rect">
            <a:avLst/>
          </a:prstGeom>
          <a:noFill/>
          <a:ln w="9525">
            <a:noFill/>
          </a:ln>
        </p:spPr>
      </p:pic>
      <p:sp>
        <p:nvSpPr>
          <p:cNvPr id="1028" name="Rectangle 4"/>
          <p:cNvSpPr/>
          <p:nvPr>
            <p:ph type="title"/>
          </p:nvPr>
        </p:nvSpPr>
        <p:spPr>
          <a:xfrm>
            <a:off x="457200" y="274638"/>
            <a:ext cx="82296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5"/>
          <p:cNvSpPr/>
          <p:nvPr>
            <p:ph type="body" idx="1"/>
          </p:nvPr>
        </p:nvSpPr>
        <p:spPr>
          <a:xfrm>
            <a:off x="457200" y="1600200"/>
            <a:ext cx="82296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0" name="Rectangle 6"/>
          <p:cNvSpPr>
            <a:spLocks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5BCAD085-E8A6-8845-BD4E-CB4CCA059FC4}" type="datetimeFigureOut">
              <a:rPr lang="en-US" smtClean="0"/>
            </a:fld>
            <a:endParaRPr lang="en-US"/>
          </a:p>
        </p:txBody>
      </p:sp>
      <p:sp>
        <p:nvSpPr>
          <p:cNvPr id="1031" name="Rectangle 7"/>
          <p:cNvSpPr>
            <a:spLocks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2" name="Rectangle 8"/>
          <p:cNvSpPr>
            <a:spLocks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ppt_x</p:attrName>
                                        </p:attrNameLst>
                                      </p:cBhvr>
                                      <p:tavLst>
                                        <p:tav tm="0">
                                          <p:val>
                                            <p:strVal val="#ppt_x-.2"/>
                                          </p:val>
                                        </p:tav>
                                        <p:tav tm="100000">
                                          <p:val>
                                            <p:strVal val="#ppt_x"/>
                                          </p:val>
                                        </p:tav>
                                      </p:tavLst>
                                    </p:anim>
                                    <p:anim calcmode="lin" valueType="num">
                                      <p:cBhvr>
                                        <p:cTn id="8" dur="1000" fill="hold"/>
                                        <p:tgtEl>
                                          <p:spTgt spid="1026"/>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2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1028"/>
                                        </p:tgtEl>
                                        <p:attrNameLst>
                                          <p:attrName>style.visibility</p:attrName>
                                        </p:attrNameLst>
                                      </p:cBhvr>
                                      <p:to>
                                        <p:strVal val="visible"/>
                                      </p:to>
                                    </p:set>
                                    <p:anim calcmode="lin" valueType="num">
                                      <p:cBhvr>
                                        <p:cTn id="12" dur="1000" fill="hold"/>
                                        <p:tgtEl>
                                          <p:spTgt spid="1028"/>
                                        </p:tgtEl>
                                        <p:attrNameLst>
                                          <p:attrName>ppt_x</p:attrName>
                                        </p:attrNameLst>
                                      </p:cBhvr>
                                      <p:tavLst>
                                        <p:tav tm="0">
                                          <p:val>
                                            <p:strVal val="#ppt_x-.2"/>
                                          </p:val>
                                        </p:tav>
                                        <p:tav tm="100000">
                                          <p:val>
                                            <p:strVal val="#ppt_x"/>
                                          </p:val>
                                        </p:tav>
                                      </p:tavLst>
                                    </p:anim>
                                    <p:anim calcmode="lin" valueType="num">
                                      <p:cBhvr>
                                        <p:cTn id="13" dur="1000" fill="hold"/>
                                        <p:tgtEl>
                                          <p:spTgt spid="102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ldLvl="0" animBg="1"/>
      <p:bldP spid="1028" grpId="0" bldLvl="0"/>
    </p:bldLst>
  </p:timing>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a:r>
              <a:t>LEGAL CASE INTELLIGENT SEARCH ENGINE</a:t>
            </a:r>
          </a:p>
        </p:txBody>
      </p:sp>
      <p:sp>
        <p:nvSpPr>
          <p:cNvPr id="3" name="Subtitle 2"/>
          <p:cNvSpPr>
            <a:spLocks noGrp="1"/>
          </p:cNvSpPr>
          <p:nvPr>
            <p:ph type="subTitle" idx="1"/>
          </p:nvPr>
        </p:nvSpPr>
        <p:spPr/>
        <p:txBody>
          <a:bodyPr/>
          <a:lstStyle/>
          <a:p>
            <a:r>
              <a:t>A Hybrid Information Retrieval System using BM25, TF-IDF, LSA &amp; Clustering</a:t>
            </a:r>
          </a:p>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Introduction</a:t>
            </a:r>
          </a:p>
        </p:txBody>
      </p:sp>
      <p:sp>
        <p:nvSpPr>
          <p:cNvPr id="3" name="Content Placeholder 2"/>
          <p:cNvSpPr>
            <a:spLocks noGrp="1"/>
          </p:cNvSpPr>
          <p:nvPr>
            <p:ph idx="1"/>
          </p:nvPr>
        </p:nvSpPr>
        <p:spPr>
          <a:xfrm>
            <a:off x="457200" y="1417955"/>
            <a:ext cx="8229600" cy="4525963"/>
          </a:xfrm>
        </p:spPr>
        <p:txBody>
          <a:bodyPr>
            <a:noAutofit/>
          </a:bodyPr>
          <a:lstStyle/>
          <a:p>
            <a:pPr>
              <a:buFont typeface="Wingdings" panose="05000000000000000000" charset="0"/>
              <a:buChar char="Ø"/>
            </a:pPr>
            <a:r>
              <a:rPr sz="1700"/>
              <a:t>This project introduces an advanced Legal Case Intelligent Search Engine designed tosupport legal professionals in retrieving meaningful judgments from vast collections ofIndian Supreme Court documents. As legal texts are typically dense, complex, and filledwith domain-specific terminology, traditional keyword-based search methods often fail toproduce contextually accurate results. The system addresses this problem by integratinghybrid information retrieval techniques with semantic analysis to understand deeperrelationships between legal cases. </a:t>
            </a:r>
            <a:endParaRPr sz="1700"/>
          </a:p>
          <a:p>
            <a:pPr>
              <a:buFont typeface="Wingdings" panose="05000000000000000000" charset="0"/>
              <a:buChar char="Ø"/>
            </a:pPr>
            <a:r>
              <a:rPr sz="1700"/>
              <a:t>Using BM25 for lexical relevance, TF-IDF forstatistical weighting, and Latent Semantic Analysis for conceptual understanding, thesystem is capable of retrieving judgments that align not only with literal keywords butalso with the underlying meaning of user queries. Additionally, clustering andrecommendation modules enhance exploration by grouping related cases and offeringintelligent suggestions. This introduction outlines the project’s aim to improve researchefficiency, increase retrieval accuracy, and provide an intelligent foundation capable ofsupporting real-world legal workflows with high reliability and transparency.</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Problem Background</a:t>
            </a:r>
          </a:p>
        </p:txBody>
      </p:sp>
      <p:sp>
        <p:nvSpPr>
          <p:cNvPr id="3" name="Content Placeholder 2"/>
          <p:cNvSpPr>
            <a:spLocks noGrp="1"/>
          </p:cNvSpPr>
          <p:nvPr>
            <p:ph idx="1"/>
          </p:nvPr>
        </p:nvSpPr>
        <p:spPr>
          <a:xfrm>
            <a:off x="332740" y="1049655"/>
            <a:ext cx="8229600" cy="4953000"/>
          </a:xfrm>
        </p:spPr>
        <p:txBody>
          <a:bodyPr/>
          <a:lstStyle/>
          <a:p/>
          <a:p>
            <a:pPr>
              <a:buFont typeface="Wingdings" panose="05000000000000000000" charset="0"/>
              <a:buChar char="Ø"/>
              <a:defRPr sz="1800">
                <a:solidFill>
                  <a:srgbClr val="282828"/>
                </a:solidFill>
              </a:defRPr>
            </a:pPr>
            <a:r>
              <a:rPr sz="1700"/>
              <a:t>Legal researchers often confront the overwhelming challenge of navigating thousands of</a:t>
            </a:r>
            <a:r>
              <a:rPr lang="en-US" sz="1700"/>
              <a:t> j</a:t>
            </a:r>
            <a:r>
              <a:rPr sz="1700"/>
              <a:t>udgments published each year, each containing complex narratives, legal arguments,procedural histories, and judicial interpretations. Traditional legal search tools relyheavily on keyword matching, which struggles with vocabulary mismatch, synonym usage,paraphrasing, and complex legal phrasing. As a result, researchers frequently missrelevant precedents or must manually sift through long documents to determine relevance.The lack of semantic understanding in keyword-based systems makes them insufficient formodern legal workflows, where precision and efficiency are crucial. This projectidentifies these limitations and proposes a solution that uses hybrid retrieval andsemantic modelling to bridge the gap between user intent and document content. </a:t>
            </a:r>
            <a:endParaRPr sz="1700"/>
          </a:p>
          <a:p>
            <a:pPr>
              <a:buFont typeface="Wingdings" panose="05000000000000000000" charset="0"/>
              <a:buChar char="Ø"/>
              <a:defRPr sz="1800">
                <a:solidFill>
                  <a:srgbClr val="282828"/>
                </a:solidFill>
              </a:defRPr>
            </a:pPr>
            <a:r>
              <a:rPr sz="1700"/>
              <a:t>The system</a:t>
            </a:r>
            <a:r>
              <a:rPr lang="en-US" sz="1700"/>
              <a:t> </a:t>
            </a:r>
            <a:r>
              <a:rPr sz="1700"/>
              <a:t>interprets legal text conceptually, understands variations in expression, and retrievesjudgments based on meaning rather than superficial matches. This comprehensive problem</a:t>
            </a:r>
            <a:r>
              <a:rPr lang="en-US" sz="1700"/>
              <a:t> </a:t>
            </a:r>
            <a:r>
              <a:rPr sz="1700"/>
              <a:t>background emphasizes why modern legal research demands an intelligent, context-aware</a:t>
            </a:r>
            <a:r>
              <a:rPr lang="en-US" sz="1700"/>
              <a:t> </a:t>
            </a:r>
            <a:r>
              <a:rPr sz="1700"/>
              <a:t>retrieval engine.</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Motivation</a:t>
            </a:r>
          </a:p>
        </p:txBody>
      </p:sp>
      <p:sp>
        <p:nvSpPr>
          <p:cNvPr id="3" name="Content Placeholder 2"/>
          <p:cNvSpPr>
            <a:spLocks noGrp="1"/>
          </p:cNvSpPr>
          <p:nvPr>
            <p:ph idx="1"/>
          </p:nvPr>
        </p:nvSpPr>
        <p:spPr>
          <a:xfrm>
            <a:off x="457200" y="978535"/>
            <a:ext cx="8229600" cy="4525963"/>
          </a:xfrm>
        </p:spPr>
        <p:txBody>
          <a:bodyPr/>
          <a:lstStyle/>
          <a:p/>
          <a:p>
            <a:pPr>
              <a:buFont typeface="Wingdings" panose="05000000000000000000" charset="0"/>
              <a:buChar char="Ø"/>
              <a:defRPr sz="1800">
                <a:solidFill>
                  <a:srgbClr val="282828"/>
                </a:solidFill>
              </a:defRPr>
            </a:pPr>
            <a:r>
              <a:rPr sz="1500"/>
              <a:t>The motivation for developing this Legal Case Intelligent Search Engine stems from the</a:t>
            </a:r>
            <a:endParaRPr sz="1500"/>
          </a:p>
          <a:p>
            <a:pPr marL="0" indent="0">
              <a:buNone/>
              <a:defRPr sz="1800">
                <a:solidFill>
                  <a:srgbClr val="282828"/>
                </a:solidFill>
              </a:defRPr>
            </a:pPr>
            <a:r>
              <a:rPr sz="1500"/>
              <a:t>growing need for efficient and intelligent legal research tools that can keep pace with</a:t>
            </a:r>
            <a:endParaRPr sz="1500"/>
          </a:p>
          <a:p>
            <a:pPr marL="0" indent="0">
              <a:buNone/>
              <a:defRPr sz="1800">
                <a:solidFill>
                  <a:srgbClr val="282828"/>
                </a:solidFill>
              </a:defRPr>
            </a:pPr>
            <a:r>
              <a:rPr sz="1500"/>
              <a:t>the expanding volume of court judgments. Lawyers, students, and researchers often face</a:t>
            </a:r>
            <a:endParaRPr sz="1500"/>
          </a:p>
          <a:p>
            <a:pPr marL="0" indent="0">
              <a:buNone/>
              <a:defRPr sz="1800">
                <a:solidFill>
                  <a:srgbClr val="282828"/>
                </a:solidFill>
              </a:defRPr>
            </a:pPr>
            <a:r>
              <a:rPr sz="1500"/>
              <a:t>significant time pressure when preparing cases or studying legal developments. Existing</a:t>
            </a:r>
            <a:endParaRPr sz="1500"/>
          </a:p>
          <a:p>
            <a:pPr marL="0" indent="0">
              <a:buNone/>
              <a:defRPr sz="1800">
                <a:solidFill>
                  <a:srgbClr val="282828"/>
                </a:solidFill>
              </a:defRPr>
            </a:pPr>
            <a:r>
              <a:rPr sz="1500"/>
              <a:t>tools rarely provide semantic awareness or recommendations, limiting their usefulness incomplex research tasks. This project aims to introduce an accessible yet powerful</a:t>
            </a:r>
            <a:r>
              <a:rPr lang="en-US" sz="1500"/>
              <a:t> </a:t>
            </a:r>
            <a:r>
              <a:rPr sz="1500"/>
              <a:t>retrieval </a:t>
            </a:r>
            <a:endParaRPr sz="1500"/>
          </a:p>
          <a:p>
            <a:pPr marL="0" indent="0">
              <a:buNone/>
              <a:defRPr sz="1800">
                <a:solidFill>
                  <a:srgbClr val="282828"/>
                </a:solidFill>
              </a:defRPr>
            </a:pPr>
            <a:r>
              <a:rPr sz="1500"/>
              <a:t>engine capable of understanding both lexical and conceptual aspects of legallanguage. </a:t>
            </a:r>
            <a:endParaRPr sz="1500"/>
          </a:p>
          <a:p>
            <a:pPr marL="0" indent="0">
              <a:buNone/>
              <a:defRPr sz="1800">
                <a:solidFill>
                  <a:srgbClr val="282828"/>
                </a:solidFill>
              </a:defRPr>
            </a:pPr>
            <a:endParaRPr sz="1500"/>
          </a:p>
          <a:p>
            <a:pPr>
              <a:buFont typeface="Wingdings" panose="05000000000000000000" charset="0"/>
              <a:buChar char="Ø"/>
              <a:defRPr sz="1800">
                <a:solidFill>
                  <a:srgbClr val="282828"/>
                </a:solidFill>
              </a:defRPr>
            </a:pPr>
            <a:r>
              <a:rPr sz="1500"/>
              <a:t>Motivated by real-world use cases, the system provides explainability throughmatching </a:t>
            </a:r>
            <a:endParaRPr sz="1500"/>
          </a:p>
          <a:p>
            <a:pPr marL="0" indent="0">
              <a:buFont typeface="Wingdings" panose="05000000000000000000" charset="0"/>
              <a:buNone/>
              <a:defRPr sz="1800">
                <a:solidFill>
                  <a:srgbClr val="282828"/>
                </a:solidFill>
              </a:defRPr>
            </a:pPr>
            <a:r>
              <a:rPr sz="1500"/>
              <a:t>term highlights, clustering for topic exploration, and recommendations to helpusers discover</a:t>
            </a:r>
            <a:endParaRPr sz="1500"/>
          </a:p>
          <a:p>
            <a:pPr marL="0" indent="0">
              <a:buFont typeface="Wingdings" panose="05000000000000000000" charset="0"/>
              <a:buNone/>
              <a:defRPr sz="1800">
                <a:solidFill>
                  <a:srgbClr val="282828"/>
                </a:solidFill>
              </a:defRPr>
            </a:pPr>
            <a:r>
              <a:rPr sz="1500"/>
              <a:t>related</a:t>
            </a:r>
            <a:r>
              <a:rPr lang="en-US" sz="1500"/>
              <a:t> </a:t>
            </a:r>
            <a:r>
              <a:rPr sz="1500"/>
              <a:t>judgments effortlessly. By integrating classical IR with NLP-drivensemantic modelling, </a:t>
            </a:r>
            <a:endParaRPr sz="1500"/>
          </a:p>
          <a:p>
            <a:pPr marL="0" indent="0">
              <a:buFont typeface="Wingdings" panose="05000000000000000000" charset="0"/>
              <a:buNone/>
              <a:defRPr sz="1800">
                <a:solidFill>
                  <a:srgbClr val="282828"/>
                </a:solidFill>
              </a:defRPr>
            </a:pPr>
            <a:r>
              <a:rPr sz="1500"/>
              <a:t>the project demonstrates how technology can meaningfully enhance legalresearch, reduce </a:t>
            </a:r>
            <a:endParaRPr sz="1500"/>
          </a:p>
          <a:p>
            <a:pPr marL="0" indent="0">
              <a:buFont typeface="Wingdings" panose="05000000000000000000" charset="0"/>
              <a:buNone/>
              <a:defRPr sz="1800">
                <a:solidFill>
                  <a:srgbClr val="282828"/>
                </a:solidFill>
              </a:defRPr>
            </a:pPr>
            <a:r>
              <a:rPr sz="1500"/>
              <a:t>human workload, and support informed decision-making in legal practice.</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Dataset Overview</a:t>
            </a:r>
          </a:p>
        </p:txBody>
      </p:sp>
      <p:sp>
        <p:nvSpPr>
          <p:cNvPr id="3" name="Content Placeholder 2"/>
          <p:cNvSpPr>
            <a:spLocks noGrp="1"/>
          </p:cNvSpPr>
          <p:nvPr>
            <p:ph idx="1"/>
          </p:nvPr>
        </p:nvSpPr>
        <p:spPr>
          <a:xfrm>
            <a:off x="457200" y="1165860"/>
            <a:ext cx="8229600" cy="4525963"/>
          </a:xfrm>
        </p:spPr>
        <p:txBody>
          <a:bodyPr/>
          <a:lstStyle/>
          <a:p>
            <a:endParaRPr sz="1800"/>
          </a:p>
          <a:p>
            <a:pPr>
              <a:buFont typeface="Wingdings" panose="05000000000000000000" charset="0"/>
              <a:buChar char="Ø"/>
              <a:defRPr sz="1800">
                <a:solidFill>
                  <a:srgbClr val="282828"/>
                </a:solidFill>
              </a:defRPr>
            </a:pPr>
            <a:r>
              <a:rPr sz="1800"/>
              <a:t>The dataset employed in this project consists of authentic Indian Supreme Court judgments,each containing detailed descriptions of legal issues, case titles, verdict dates,judicial reasoning, and references to other cases. Legal datasets pose unique challengesdue to their unstructured format, varied writing styles, inconsistent use of citations,and extensive use of domain-specific terminology. Many judgments feature embeddedcitations, long arguments, or incomplete metadata fields such as missing dates orirregular formats. </a:t>
            </a:r>
            <a:endParaRPr sz="1800"/>
          </a:p>
          <a:p>
            <a:pPr>
              <a:buFont typeface="Wingdings" panose="05000000000000000000" charset="0"/>
              <a:buChar char="Ø"/>
              <a:defRPr sz="1800">
                <a:solidFill>
                  <a:srgbClr val="282828"/>
                </a:solidFill>
              </a:defRPr>
            </a:pPr>
            <a:r>
              <a:rPr sz="1800"/>
              <a:t>This dataset requires rigorous preprocessing to ensure that theretrieval and clustering algorithms receive clean, meaningful, and standardized inputrepresentations. Its richness allows the search engine to learn and perform on real-worldlegal content rather than synthetic or simplified examples. As a result, the retrievalsystem demonstrates performance practically relevan</a:t>
            </a:r>
            <a:r>
              <a:rPr lang="en-US" sz="1800"/>
              <a:t>t.</a:t>
            </a:r>
            <a:endParaRPr 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Preprocessing Pipeline</a:t>
            </a:r>
          </a:p>
        </p:txBody>
      </p:sp>
      <p:sp>
        <p:nvSpPr>
          <p:cNvPr id="3" name="Content Placeholder 2"/>
          <p:cNvSpPr>
            <a:spLocks noGrp="1"/>
          </p:cNvSpPr>
          <p:nvPr>
            <p:ph idx="1"/>
          </p:nvPr>
        </p:nvSpPr>
        <p:spPr>
          <a:xfrm>
            <a:off x="457200" y="1097280"/>
            <a:ext cx="8229600" cy="4525963"/>
          </a:xfrm>
        </p:spPr>
        <p:txBody>
          <a:bodyPr/>
          <a:lstStyle/>
          <a:p/>
          <a:p>
            <a:pPr>
              <a:buFont typeface="Wingdings" panose="05000000000000000000" charset="0"/>
              <a:buChar char="Ø"/>
              <a:defRPr sz="1800">
                <a:solidFill>
                  <a:srgbClr val="282828"/>
                </a:solidFill>
              </a:defRPr>
            </a:pPr>
            <a:r>
              <a:rPr sz="1600"/>
              <a:t>The preprocessing pipeline is one of the most critical components of the system, as </a:t>
            </a:r>
            <a:endParaRPr sz="1600"/>
          </a:p>
          <a:p>
            <a:pPr marL="0" indent="0">
              <a:buFont typeface="Wingdings" panose="05000000000000000000" charset="0"/>
              <a:buNone/>
              <a:defRPr sz="1800">
                <a:solidFill>
                  <a:srgbClr val="282828"/>
                </a:solidFill>
              </a:defRPr>
            </a:pPr>
            <a:r>
              <a:rPr sz="1600"/>
              <a:t>legal text contains substantial noise, including HTML tags, scanning artifacts, unusual</a:t>
            </a:r>
            <a:endParaRPr sz="1600"/>
          </a:p>
          <a:p>
            <a:pPr marL="0" indent="0">
              <a:buNone/>
              <a:defRPr sz="1800">
                <a:solidFill>
                  <a:srgbClr val="282828"/>
                </a:solidFill>
              </a:defRPr>
            </a:pPr>
            <a:r>
              <a:rPr sz="1600"/>
              <a:t>punctuation, and multiple citation formats. The pipeline begins by cleaning HTML and</a:t>
            </a:r>
            <a:endParaRPr sz="1600"/>
          </a:p>
          <a:p>
            <a:pPr marL="0" indent="0">
              <a:buNone/>
              <a:defRPr sz="1800">
                <a:solidFill>
                  <a:srgbClr val="282828"/>
                </a:solidFill>
              </a:defRPr>
            </a:pPr>
            <a:r>
              <a:rPr sz="1600"/>
              <a:t>normalizing text through lowercasing and whitespace correction. Legal citations such as</a:t>
            </a:r>
            <a:endParaRPr sz="1600"/>
          </a:p>
          <a:p>
            <a:pPr marL="0" indent="0">
              <a:buNone/>
              <a:defRPr sz="1800">
                <a:solidFill>
                  <a:srgbClr val="282828"/>
                </a:solidFill>
              </a:defRPr>
            </a:pPr>
            <a:r>
              <a:rPr sz="1600"/>
              <a:t>SCC, AIR, and SCR references are removed because they add repetition without </a:t>
            </a:r>
            <a:endParaRPr sz="1600"/>
          </a:p>
          <a:p>
            <a:pPr marL="0" indent="0">
              <a:buNone/>
              <a:defRPr sz="1800">
                <a:solidFill>
                  <a:srgbClr val="282828"/>
                </a:solidFill>
              </a:defRPr>
            </a:pPr>
            <a:r>
              <a:rPr sz="1600"/>
              <a:t>contributingmeaning. Domain-specific legal stopwords—such as “petitioner,” “respondent,”</a:t>
            </a:r>
            <a:endParaRPr sz="1600"/>
          </a:p>
          <a:p>
            <a:pPr marL="0" indent="0">
              <a:buNone/>
              <a:defRPr sz="1800">
                <a:solidFill>
                  <a:srgbClr val="282828"/>
                </a:solidFill>
              </a:defRPr>
            </a:pPr>
            <a:r>
              <a:rPr sz="1600"/>
              <a:t>“bench,” and“court”—are also removed to ensure the model focuses on substantive legal issues rather</a:t>
            </a:r>
            <a:r>
              <a:rPr lang="en-US" sz="1600"/>
              <a:t> </a:t>
            </a:r>
            <a:r>
              <a:rPr sz="1600"/>
              <a:t>than procedural terminology. Lemmatization reduces words to their root </a:t>
            </a:r>
            <a:endParaRPr sz="1600"/>
          </a:p>
          <a:p>
            <a:pPr marL="0" indent="0">
              <a:buNone/>
              <a:defRPr sz="1800">
                <a:solidFill>
                  <a:srgbClr val="282828"/>
                </a:solidFill>
              </a:defRPr>
            </a:pPr>
            <a:r>
              <a:rPr sz="1600"/>
              <a:t>forms, ensuringconsistent representation across cases. This preprocessing significantly </a:t>
            </a:r>
            <a:endParaRPr sz="1600"/>
          </a:p>
          <a:p>
            <a:pPr marL="0" indent="0">
              <a:buNone/>
              <a:defRPr sz="1800">
                <a:solidFill>
                  <a:srgbClr val="282828"/>
                </a:solidFill>
              </a:defRPr>
            </a:pPr>
            <a:r>
              <a:rPr sz="1600"/>
              <a:t>improves theaccuracy of indexing, vectorization, clustering, and ranking, creating a</a:t>
            </a:r>
            <a:endParaRPr sz="1600"/>
          </a:p>
          <a:p>
            <a:pPr marL="0" indent="0">
              <a:buNone/>
              <a:defRPr sz="1800">
                <a:solidFill>
                  <a:srgbClr val="282828"/>
                </a:solidFill>
              </a:defRPr>
            </a:pPr>
            <a:r>
              <a:rPr sz="1600"/>
              <a:t>robust foundationfor all subsequent retrieval operations.</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Tokenization &amp; Lemmatization</a:t>
            </a:r>
          </a:p>
        </p:txBody>
      </p:sp>
      <p:sp>
        <p:nvSpPr>
          <p:cNvPr id="3" name="Content Placeholder 2"/>
          <p:cNvSpPr>
            <a:spLocks noGrp="1"/>
          </p:cNvSpPr>
          <p:nvPr>
            <p:ph idx="1"/>
          </p:nvPr>
        </p:nvSpPr>
        <p:spPr>
          <a:xfrm>
            <a:off x="457200" y="958850"/>
            <a:ext cx="8229600" cy="4525963"/>
          </a:xfrm>
        </p:spPr>
        <p:txBody>
          <a:bodyPr/>
          <a:lstStyle/>
          <a:p/>
          <a:p>
            <a:pPr>
              <a:buFont typeface="Wingdings" panose="05000000000000000000" charset="0"/>
              <a:buChar char="Ø"/>
              <a:defRPr sz="1800">
                <a:solidFill>
                  <a:srgbClr val="282828"/>
                </a:solidFill>
              </a:defRPr>
            </a:pPr>
            <a:r>
              <a:rPr sz="1600"/>
              <a:t>Tokenization divides the judgment text into smaller meaningful units, enabling deeper</a:t>
            </a:r>
            <a:endParaRPr sz="1600"/>
          </a:p>
          <a:p>
            <a:pPr marL="0" indent="0">
              <a:buNone/>
              <a:defRPr sz="1800">
                <a:solidFill>
                  <a:srgbClr val="282828"/>
                </a:solidFill>
              </a:defRPr>
            </a:pPr>
            <a:r>
              <a:rPr sz="1600"/>
              <a:t>linguistic processing and vectorization. Legal documents often contain long, complex</a:t>
            </a:r>
            <a:endParaRPr sz="1600"/>
          </a:p>
          <a:p>
            <a:pPr marL="0" indent="0">
              <a:buNone/>
              <a:defRPr sz="1800">
                <a:solidFill>
                  <a:srgbClr val="282828"/>
                </a:solidFill>
              </a:defRPr>
            </a:pPr>
            <a:r>
              <a:rPr sz="1600"/>
              <a:t>sentences that make tokenization essential for effective indexing. Once tokens are</a:t>
            </a:r>
            <a:endParaRPr sz="1600"/>
          </a:p>
          <a:p>
            <a:pPr marL="0" indent="0">
              <a:buNone/>
              <a:defRPr sz="1800">
                <a:solidFill>
                  <a:srgbClr val="282828"/>
                </a:solidFill>
              </a:defRPr>
            </a:pPr>
            <a:r>
              <a:rPr sz="1600"/>
              <a:t>extracted, lemmatization ensures that words such as “argues,” “argued,” and “arguing” are</a:t>
            </a:r>
            <a:r>
              <a:rPr lang="en-US" sz="1600"/>
              <a:t> </a:t>
            </a:r>
            <a:r>
              <a:rPr sz="1600"/>
              <a:t>treated as the same base concept—“argue.” </a:t>
            </a:r>
            <a:endParaRPr sz="1600"/>
          </a:p>
          <a:p>
            <a:pPr marL="0" indent="0">
              <a:buNone/>
              <a:defRPr sz="1800">
                <a:solidFill>
                  <a:srgbClr val="282828"/>
                </a:solidFill>
              </a:defRPr>
            </a:pPr>
            <a:endParaRPr sz="1600"/>
          </a:p>
          <a:p>
            <a:pPr>
              <a:buFont typeface="Wingdings" panose="05000000000000000000" charset="0"/>
              <a:buChar char="Ø"/>
              <a:defRPr sz="1800">
                <a:solidFill>
                  <a:srgbClr val="282828"/>
                </a:solidFill>
              </a:defRPr>
            </a:pPr>
            <a:r>
              <a:rPr sz="1600"/>
              <a:t>This process reduces vocabulary size, improvessemantic matching, and enhances</a:t>
            </a:r>
            <a:endParaRPr sz="1600"/>
          </a:p>
          <a:p>
            <a:pPr marL="0" indent="0">
              <a:buFont typeface="Wingdings" panose="05000000000000000000" charset="0"/>
              <a:buNone/>
              <a:defRPr sz="1800">
                <a:solidFill>
                  <a:srgbClr val="282828"/>
                </a:solidFill>
              </a:defRPr>
            </a:pPr>
            <a:r>
              <a:rPr sz="1600"/>
              <a:t>the </a:t>
            </a:r>
            <a:r>
              <a:rPr lang="en-US" sz="1600"/>
              <a:t> </a:t>
            </a:r>
            <a:r>
              <a:rPr sz="1600"/>
              <a:t>model’s ability to recognize related expressionsacross different judgments. By </a:t>
            </a:r>
            <a:endParaRPr sz="1600"/>
          </a:p>
          <a:p>
            <a:pPr marL="0" indent="0">
              <a:buFont typeface="Wingdings" panose="05000000000000000000" charset="0"/>
              <a:buNone/>
              <a:defRPr sz="1800">
                <a:solidFill>
                  <a:srgbClr val="282828"/>
                </a:solidFill>
              </a:defRPr>
            </a:pPr>
            <a:r>
              <a:rPr sz="1600"/>
              <a:t>ensuring consistent word representation, the tokenizationand lemmatization pipeline</a:t>
            </a:r>
            <a:endParaRPr sz="1600"/>
          </a:p>
          <a:p>
            <a:pPr marL="0" indent="0">
              <a:buFont typeface="Wingdings" panose="05000000000000000000" charset="0"/>
              <a:buNone/>
              <a:defRPr sz="1800">
                <a:solidFill>
                  <a:srgbClr val="282828"/>
                </a:solidFill>
              </a:defRPr>
            </a:pPr>
            <a:r>
              <a:rPr sz="1600"/>
              <a:t> strengthens downstream retrieval accuracy, especially in cases</a:t>
            </a:r>
            <a:r>
              <a:rPr lang="en-US" sz="1600"/>
              <a:t> </a:t>
            </a:r>
            <a:r>
              <a:rPr sz="1600"/>
              <a:t>where the same legal</a:t>
            </a:r>
            <a:endParaRPr sz="1600"/>
          </a:p>
          <a:p>
            <a:pPr marL="0" indent="0">
              <a:buFont typeface="Wingdings" panose="05000000000000000000" charset="0"/>
              <a:buNone/>
              <a:defRPr sz="1800">
                <a:solidFill>
                  <a:srgbClr val="282828"/>
                </a:solidFill>
              </a:defRPr>
            </a:pPr>
            <a:r>
              <a:rPr sz="1600"/>
              <a:t>principle is articulated using multiple linguistic forms. This</a:t>
            </a:r>
            <a:r>
              <a:rPr lang="en-US" sz="1600"/>
              <a:t> </a:t>
            </a:r>
            <a:r>
              <a:rPr sz="1600"/>
              <a:t>step</a:t>
            </a:r>
            <a:r>
              <a:rPr lang="en-US" sz="1600"/>
              <a:t> </a:t>
            </a:r>
            <a:r>
              <a:rPr sz="1600"/>
              <a:t>is crucial for aligning user </a:t>
            </a:r>
            <a:endParaRPr sz="1600"/>
          </a:p>
          <a:p>
            <a:pPr marL="0" indent="0">
              <a:buFont typeface="Wingdings" panose="05000000000000000000" charset="0"/>
              <a:buNone/>
              <a:defRPr sz="1800">
                <a:solidFill>
                  <a:srgbClr val="282828"/>
                </a:solidFill>
              </a:defRPr>
            </a:pPr>
            <a:r>
              <a:rPr sz="1600"/>
              <a:t>queries with the most relevant judgments despite variations</a:t>
            </a:r>
            <a:r>
              <a:rPr lang="en-US" sz="1600"/>
              <a:t> </a:t>
            </a:r>
            <a:r>
              <a:rPr sz="1600"/>
              <a:t>in wording or writing style.</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Legal Stopword Removal</a:t>
            </a:r>
          </a:p>
        </p:txBody>
      </p:sp>
      <p:sp>
        <p:nvSpPr>
          <p:cNvPr id="3" name="Content Placeholder 2"/>
          <p:cNvSpPr>
            <a:spLocks noGrp="1"/>
          </p:cNvSpPr>
          <p:nvPr>
            <p:ph idx="1"/>
          </p:nvPr>
        </p:nvSpPr>
        <p:spPr>
          <a:xfrm>
            <a:off x="457200" y="1261745"/>
            <a:ext cx="8229600" cy="4525963"/>
          </a:xfrm>
        </p:spPr>
        <p:txBody>
          <a:bodyPr/>
          <a:lstStyle/>
          <a:p/>
          <a:p>
            <a:pPr>
              <a:buFont typeface="Wingdings" panose="05000000000000000000" charset="0"/>
              <a:buChar char="Ø"/>
              <a:defRPr sz="1800">
                <a:solidFill>
                  <a:srgbClr val="282828"/>
                </a:solidFill>
              </a:defRPr>
            </a:pPr>
            <a:r>
              <a:rPr sz="1700"/>
              <a:t>Legal documents contain recurring procedural phrases that appear in nearly every judgment,such as references to petitioners, respondents, benches, or court structures. While these</a:t>
            </a:r>
            <a:r>
              <a:rPr lang="en-US" sz="1700"/>
              <a:t> </a:t>
            </a:r>
            <a:r>
              <a:rPr sz="1700"/>
              <a:t>words are meaningful in the legal domain, they contribute little to retrieval tasks</a:t>
            </a:r>
            <a:r>
              <a:rPr lang="en-US" sz="1700"/>
              <a:t> </a:t>
            </a:r>
            <a:r>
              <a:rPr sz="1700"/>
              <a:t>because they fail to differentiate one judgment from another. Removing domain-specific</a:t>
            </a:r>
            <a:r>
              <a:rPr lang="en-US" sz="1700"/>
              <a:t> </a:t>
            </a:r>
            <a:r>
              <a:rPr sz="1700"/>
              <a:t>stopwords drastically reduces noise and improves the system’s ability to focus on</a:t>
            </a:r>
            <a:r>
              <a:rPr lang="en-US" sz="1700"/>
              <a:t> </a:t>
            </a:r>
            <a:r>
              <a:rPr sz="1700"/>
              <a:t>substantive legal issues. This step ensures that the retrieval engine emphasizes</a:t>
            </a:r>
            <a:r>
              <a:rPr lang="en-US" sz="1700"/>
              <a:t> </a:t>
            </a:r>
            <a:r>
              <a:rPr sz="1700"/>
              <a:t>meaningful concepts such as contract disputes, criminal liability, or property ownership,rather than repetitive structural references. Through selective removal, the system</a:t>
            </a:r>
            <a:r>
              <a:rPr lang="en-US" sz="1700"/>
              <a:t> </a:t>
            </a:r>
            <a:r>
              <a:rPr sz="1700"/>
              <a:t>retains important legal arguments while filtering out irrelevant filler content, improving</a:t>
            </a:r>
            <a:r>
              <a:rPr lang="en-US" sz="1700"/>
              <a:t> </a:t>
            </a:r>
            <a:r>
              <a:rPr sz="1700"/>
              <a:t>both retrieval precision and interpretability.</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Citation &amp; Noise Cleaning</a:t>
            </a:r>
          </a:p>
        </p:txBody>
      </p:sp>
      <p:sp>
        <p:nvSpPr>
          <p:cNvPr id="3" name="Content Placeholder 2"/>
          <p:cNvSpPr>
            <a:spLocks noGrp="1"/>
          </p:cNvSpPr>
          <p:nvPr>
            <p:ph idx="1"/>
          </p:nvPr>
        </p:nvSpPr>
        <p:spPr/>
        <p:txBody>
          <a:bodyPr/>
          <a:lstStyle/>
          <a:p/>
          <a:p>
            <a:pPr>
              <a:buFont typeface="Wingdings" panose="05000000000000000000" charset="0"/>
              <a:buChar char="Ø"/>
              <a:defRPr sz="1800">
                <a:solidFill>
                  <a:srgbClr val="282828"/>
                </a:solidFill>
              </a:defRPr>
            </a:pPr>
            <a:r>
              <a:rPr sz="1600"/>
              <a:t>Judgments often contain citations to other cases in formats such as AIR 1994 SC 322,</a:t>
            </a:r>
            <a:endParaRPr sz="1600"/>
          </a:p>
          <a:p>
            <a:pPr marL="0" indent="0">
              <a:buNone/>
              <a:defRPr sz="1800">
                <a:solidFill>
                  <a:srgbClr val="282828"/>
                </a:solidFill>
              </a:defRPr>
            </a:pPr>
            <a:r>
              <a:rPr sz="1600"/>
              <a:t>(2010) 6 SCC 345, or SCR-style references. Although useful for human lawyers, these</a:t>
            </a:r>
            <a:endParaRPr sz="1600"/>
          </a:p>
          <a:p>
            <a:pPr marL="0" indent="0">
              <a:buNone/>
              <a:defRPr sz="1800">
                <a:solidFill>
                  <a:srgbClr val="282828"/>
                </a:solidFill>
              </a:defRPr>
            </a:pPr>
            <a:r>
              <a:rPr sz="1600"/>
              <a:t>citations act as noise for algorithms because they introduce repeated numeric sequences</a:t>
            </a:r>
            <a:endParaRPr sz="1600"/>
          </a:p>
          <a:p>
            <a:pPr marL="0" indent="0">
              <a:buNone/>
              <a:defRPr sz="1800">
                <a:solidFill>
                  <a:srgbClr val="282828"/>
                </a:solidFill>
              </a:defRPr>
            </a:pPr>
            <a:r>
              <a:rPr sz="1600"/>
              <a:t>without carrying semantic meaning. Removing these citations ensures that the system</a:t>
            </a:r>
            <a:endParaRPr sz="1600"/>
          </a:p>
          <a:p>
            <a:pPr marL="0" indent="0">
              <a:buNone/>
              <a:defRPr sz="1800">
                <a:solidFill>
                  <a:srgbClr val="282828"/>
                </a:solidFill>
              </a:defRPr>
            </a:pPr>
            <a:r>
              <a:rPr sz="1600"/>
              <a:t>focuses on core legal arguments rather than document identifiers. The cleaning pipeline</a:t>
            </a:r>
            <a:endParaRPr sz="1600"/>
          </a:p>
          <a:p>
            <a:pPr marL="0" indent="0">
              <a:buNone/>
              <a:defRPr sz="1800">
                <a:solidFill>
                  <a:srgbClr val="282828"/>
                </a:solidFill>
              </a:defRPr>
            </a:pPr>
            <a:r>
              <a:rPr sz="1600"/>
              <a:t>also removes hyperlinks, special characters, and scanning errors that frequently occur in</a:t>
            </a:r>
            <a:endParaRPr sz="1600"/>
          </a:p>
          <a:p>
            <a:pPr marL="0" indent="0">
              <a:buNone/>
              <a:defRPr sz="1800">
                <a:solidFill>
                  <a:srgbClr val="282828"/>
                </a:solidFill>
              </a:defRPr>
            </a:pPr>
            <a:r>
              <a:rPr sz="1600"/>
              <a:t>digital legal archives. This noise reduction enhances readability, improves vectorization</a:t>
            </a:r>
            <a:endParaRPr sz="1600"/>
          </a:p>
          <a:p>
            <a:pPr marL="0" indent="0">
              <a:buNone/>
              <a:defRPr sz="1800">
                <a:solidFill>
                  <a:srgbClr val="282828"/>
                </a:solidFill>
              </a:defRPr>
            </a:pPr>
            <a:r>
              <a:rPr sz="1600"/>
              <a:t>quality, and ensures that semantic models operate on meaningful judicial content rather</a:t>
            </a:r>
            <a:endParaRPr sz="1600"/>
          </a:p>
          <a:p>
            <a:pPr marL="0" indent="0">
              <a:buNone/>
              <a:defRPr sz="1800">
                <a:solidFill>
                  <a:srgbClr val="282828"/>
                </a:solidFill>
              </a:defRPr>
            </a:pPr>
            <a:r>
              <a:rPr sz="1600"/>
              <a:t>than artifacts of formatting or digitization.</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Vectorization Methods</a:t>
            </a:r>
          </a:p>
        </p:txBody>
      </p:sp>
      <p:sp>
        <p:nvSpPr>
          <p:cNvPr id="3" name="Content Placeholder 2"/>
          <p:cNvSpPr>
            <a:spLocks noGrp="1"/>
          </p:cNvSpPr>
          <p:nvPr>
            <p:ph idx="1"/>
          </p:nvPr>
        </p:nvSpPr>
        <p:spPr/>
        <p:txBody>
          <a:bodyPr/>
          <a:lstStyle/>
          <a:p/>
          <a:p>
            <a:pPr marL="0" indent="0">
              <a:buNone/>
              <a:defRPr sz="1800">
                <a:solidFill>
                  <a:srgbClr val="282828"/>
                </a:solidFill>
              </a:defRPr>
            </a:pPr>
            <a:r>
              <a:rPr sz="1600"/>
              <a:t>The system employs three major vectorization techniques—BM25, TF-IDF, and LSA—to</a:t>
            </a:r>
            <a:endParaRPr sz="1600"/>
          </a:p>
          <a:p>
            <a:pPr marL="0" indent="0">
              <a:buNone/>
              <a:defRPr sz="1800">
                <a:solidFill>
                  <a:srgbClr val="282828"/>
                </a:solidFill>
              </a:defRPr>
            </a:pPr>
            <a:r>
              <a:rPr sz="1600"/>
              <a:t>represent</a:t>
            </a:r>
            <a:r>
              <a:rPr lang="en-US" sz="1600"/>
              <a:t> </a:t>
            </a:r>
            <a:r>
              <a:rPr sz="1600">
                <a:sym typeface="+mn-ea"/>
              </a:rPr>
              <a:t>legal judgments numerically. BM25 focuses on keyword relevance and gives</a:t>
            </a:r>
            <a:endParaRPr sz="1600">
              <a:sym typeface="+mn-ea"/>
            </a:endParaRPr>
          </a:p>
          <a:p>
            <a:pPr marL="0" indent="0">
              <a:buNone/>
              <a:defRPr sz="1800">
                <a:solidFill>
                  <a:srgbClr val="282828"/>
                </a:solidFill>
              </a:defRPr>
            </a:pPr>
            <a:r>
              <a:rPr sz="1600">
                <a:sym typeface="+mn-ea"/>
              </a:rPr>
              <a:t>importance to</a:t>
            </a:r>
            <a:r>
              <a:rPr lang="en-US" sz="1600">
                <a:sym typeface="+mn-ea"/>
              </a:rPr>
              <a:t>  </a:t>
            </a:r>
            <a:r>
              <a:rPr sz="1600">
                <a:sym typeface="+mn-ea"/>
              </a:rPr>
              <a:t>terms that appear frequently in a judgment but not across the entire </a:t>
            </a:r>
            <a:endParaRPr sz="1600">
              <a:sym typeface="+mn-ea"/>
            </a:endParaRPr>
          </a:p>
          <a:p>
            <a:pPr marL="0" indent="0">
              <a:buNone/>
              <a:defRPr sz="1800">
                <a:solidFill>
                  <a:srgbClr val="282828"/>
                </a:solidFill>
              </a:defRPr>
            </a:pPr>
            <a:r>
              <a:rPr sz="1600">
                <a:sym typeface="+mn-ea"/>
              </a:rPr>
              <a:t>dataset. TF-IDFcaptures statistical importance by rewarding rare terms that distinguish</a:t>
            </a:r>
            <a:endParaRPr sz="1600">
              <a:sym typeface="+mn-ea"/>
            </a:endParaRPr>
          </a:p>
          <a:p>
            <a:pPr marL="0" indent="0">
              <a:buNone/>
              <a:defRPr sz="1800">
                <a:solidFill>
                  <a:srgbClr val="282828"/>
                </a:solidFill>
              </a:defRPr>
            </a:pPr>
            <a:r>
              <a:rPr sz="1600">
                <a:sym typeface="+mn-ea"/>
              </a:rPr>
              <a:t>one legal issue</a:t>
            </a:r>
            <a:r>
              <a:rPr lang="en-US" sz="1600">
                <a:sym typeface="+mn-ea"/>
              </a:rPr>
              <a:t> </a:t>
            </a:r>
            <a:r>
              <a:rPr sz="1600">
                <a:sym typeface="+mn-ea"/>
              </a:rPr>
              <a:t>from another. LSA reduces high-dimensional TF-IDF vectors into a lower-</a:t>
            </a:r>
            <a:endParaRPr sz="1600">
              <a:sym typeface="+mn-ea"/>
            </a:endParaRPr>
          </a:p>
          <a:p>
            <a:pPr marL="0" indent="0">
              <a:buNone/>
              <a:defRPr sz="1800">
                <a:solidFill>
                  <a:srgbClr val="282828"/>
                </a:solidFill>
              </a:defRPr>
            </a:pPr>
            <a:r>
              <a:rPr sz="1600">
                <a:sym typeface="+mn-ea"/>
              </a:rPr>
              <a:t>dimensional</a:t>
            </a:r>
            <a:r>
              <a:rPr lang="en-US" sz="1600">
                <a:sym typeface="+mn-ea"/>
              </a:rPr>
              <a:t> </a:t>
            </a:r>
            <a:r>
              <a:rPr sz="1600">
                <a:sym typeface="+mn-ea"/>
              </a:rPr>
              <a:t>semantic space where deeper conceptual relationships emerge. By </a:t>
            </a:r>
            <a:endParaRPr sz="1600">
              <a:sym typeface="+mn-ea"/>
            </a:endParaRPr>
          </a:p>
          <a:p>
            <a:pPr marL="0" indent="0">
              <a:buNone/>
              <a:defRPr sz="1800">
                <a:solidFill>
                  <a:srgbClr val="282828"/>
                </a:solidFill>
              </a:defRPr>
            </a:pPr>
            <a:r>
              <a:rPr sz="1600">
                <a:sym typeface="+mn-ea"/>
              </a:rPr>
              <a:t>integrating these methods,the system leverages both surface-level and latent semantic </a:t>
            </a:r>
            <a:endParaRPr sz="1600">
              <a:sym typeface="+mn-ea"/>
            </a:endParaRPr>
          </a:p>
          <a:p>
            <a:pPr marL="0" indent="0">
              <a:buNone/>
              <a:defRPr sz="1800">
                <a:solidFill>
                  <a:srgbClr val="282828"/>
                </a:solidFill>
              </a:defRPr>
            </a:pPr>
            <a:r>
              <a:rPr sz="1600">
                <a:sym typeface="+mn-ea"/>
              </a:rPr>
              <a:t>signals, producing</a:t>
            </a:r>
            <a:r>
              <a:rPr lang="en-US" sz="1600">
                <a:sym typeface="+mn-ea"/>
              </a:rPr>
              <a:t> </a:t>
            </a:r>
            <a:r>
              <a:rPr sz="1600">
                <a:sym typeface="+mn-ea"/>
              </a:rPr>
              <a:t>a</a:t>
            </a:r>
            <a:r>
              <a:rPr lang="en-US" sz="1600">
                <a:sym typeface="+mn-ea"/>
              </a:rPr>
              <a:t> </a:t>
            </a:r>
            <a:r>
              <a:rPr sz="1600">
                <a:sym typeface="+mn-ea"/>
              </a:rPr>
              <a:t>representation that is versatile and robust for retrieval, clustering, </a:t>
            </a:r>
            <a:endParaRPr sz="1600">
              <a:sym typeface="+mn-ea"/>
            </a:endParaRPr>
          </a:p>
          <a:p>
            <a:pPr marL="0" indent="0">
              <a:buNone/>
              <a:defRPr sz="1800">
                <a:solidFill>
                  <a:srgbClr val="282828"/>
                </a:solidFill>
              </a:defRPr>
            </a:pPr>
            <a:r>
              <a:rPr sz="1600">
                <a:sym typeface="+mn-ea"/>
              </a:rPr>
              <a:t>andrecommendations.</a:t>
            </a:r>
            <a:endParaRPr sz="1600"/>
          </a:p>
          <a:p>
            <a:pPr marL="0" indent="0">
              <a:buNone/>
              <a:defRPr sz="1800">
                <a:solidFill>
                  <a:srgbClr val="282828"/>
                </a:solidFill>
              </a:defRPr>
            </a:pPr>
            <a:endParaRPr sz="1600"/>
          </a:p>
          <a:p>
            <a:pPr marL="0" indent="0">
              <a:buNone/>
              <a:defRPr sz="1800">
                <a:solidFill>
                  <a:srgbClr val="282828"/>
                </a:solidFill>
              </a:defRPr>
            </a:pPr>
            <a:endParaRPr sz="1600"/>
          </a:p>
          <a:p>
            <a:pPr marL="0" indent="0">
              <a:buNone/>
              <a:defRPr sz="1800">
                <a:solidFill>
                  <a:srgbClr val="282828"/>
                </a:solidFill>
              </a:defRPr>
            </a:pPr>
            <a:endParaRPr sz="1600"/>
          </a:p>
          <a:p>
            <a:pPr marL="0" indent="0">
              <a:buNone/>
              <a:defRPr sz="1800">
                <a:solidFill>
                  <a:srgbClr val="282828"/>
                </a:solidFill>
              </a:defRPr>
            </a:pPr>
            <a:r>
              <a:rPr lang="en-US" sz="1600"/>
              <a:t>\\</a:t>
            </a:r>
            <a:endParaRPr sz="1600"/>
          </a:p>
          <a:p>
            <a:pPr marL="0" indent="0">
              <a:buNone/>
              <a:defRPr sz="1800">
                <a:solidFill>
                  <a:srgbClr val="282828"/>
                </a:solidFill>
              </a:defRPr>
            </a:pP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BM25 Ranking Logic</a:t>
            </a:r>
          </a:p>
        </p:txBody>
      </p:sp>
      <p:sp>
        <p:nvSpPr>
          <p:cNvPr id="3" name="Content Placeholder 2"/>
          <p:cNvSpPr>
            <a:spLocks noGrp="1"/>
          </p:cNvSpPr>
          <p:nvPr>
            <p:ph idx="1"/>
          </p:nvPr>
        </p:nvSpPr>
        <p:spPr/>
        <p:txBody>
          <a:bodyPr/>
          <a:lstStyle/>
          <a:p/>
          <a:p>
            <a:pPr marL="0" indent="0">
              <a:buNone/>
              <a:defRPr sz="1800">
                <a:solidFill>
                  <a:srgbClr val="282828"/>
                </a:solidFill>
              </a:defRPr>
            </a:pPr>
            <a:r>
              <a:rPr sz="1700"/>
              <a:t>BM25 is a widely recognized retrieval algorithm that prioritizes documents based on</a:t>
            </a:r>
            <a:endParaRPr sz="1700"/>
          </a:p>
          <a:p>
            <a:pPr marL="0" indent="0">
              <a:buNone/>
              <a:defRPr sz="1800">
                <a:solidFill>
                  <a:srgbClr val="282828"/>
                </a:solidFill>
              </a:defRPr>
            </a:pPr>
            <a:r>
              <a:rPr sz="1700"/>
              <a:t>keyword frequency, document length normalization, and inverse document </a:t>
            </a:r>
            <a:endParaRPr sz="1700"/>
          </a:p>
          <a:p>
            <a:pPr marL="0" indent="0">
              <a:buNone/>
              <a:defRPr sz="1800">
                <a:solidFill>
                  <a:srgbClr val="282828"/>
                </a:solidFill>
              </a:defRPr>
            </a:pPr>
            <a:r>
              <a:rPr sz="1700"/>
              <a:t>frequency. In legal</a:t>
            </a:r>
            <a:r>
              <a:rPr lang="en-US" sz="1700"/>
              <a:t> </a:t>
            </a:r>
            <a:r>
              <a:rPr sz="1700"/>
              <a:t>research, where specific terminology such as “bail,” “contractual </a:t>
            </a:r>
            <a:endParaRPr sz="1700"/>
          </a:p>
          <a:p>
            <a:pPr marL="0" indent="0">
              <a:buNone/>
              <a:defRPr sz="1800">
                <a:solidFill>
                  <a:srgbClr val="282828"/>
                </a:solidFill>
              </a:defRPr>
            </a:pPr>
            <a:r>
              <a:rPr sz="1700"/>
              <a:t>obligation,” or</a:t>
            </a:r>
            <a:r>
              <a:rPr lang="en-US" sz="1700"/>
              <a:t> </a:t>
            </a:r>
            <a:r>
              <a:rPr sz="1700"/>
              <a:t>“possession rights” often appears in relevant judgments, BM25 excels</a:t>
            </a:r>
            <a:endParaRPr sz="1700"/>
          </a:p>
          <a:p>
            <a:pPr marL="0" indent="0">
              <a:buNone/>
              <a:defRPr sz="1800">
                <a:solidFill>
                  <a:srgbClr val="282828"/>
                </a:solidFill>
              </a:defRPr>
            </a:pPr>
            <a:r>
              <a:rPr sz="1700"/>
              <a:t>at retrieving cases</a:t>
            </a:r>
            <a:r>
              <a:rPr lang="en-US" sz="1700"/>
              <a:t> </a:t>
            </a:r>
            <a:r>
              <a:rPr sz="1700"/>
              <a:t>that explicitly mention query terms. It ensures that documents </a:t>
            </a:r>
            <a:endParaRPr sz="1700"/>
          </a:p>
          <a:p>
            <a:pPr marL="0" indent="0">
              <a:buNone/>
              <a:defRPr sz="1800">
                <a:solidFill>
                  <a:srgbClr val="282828"/>
                </a:solidFill>
              </a:defRPr>
            </a:pPr>
            <a:r>
              <a:rPr sz="1700"/>
              <a:t>with more direct references</a:t>
            </a:r>
            <a:r>
              <a:rPr lang="en-US" sz="1700"/>
              <a:t> </a:t>
            </a:r>
            <a:r>
              <a:rPr sz="1700"/>
              <a:t>to the user’s query are ranked higher. BM25 forms the </a:t>
            </a:r>
            <a:endParaRPr sz="1700"/>
          </a:p>
          <a:p>
            <a:pPr marL="0" indent="0">
              <a:buNone/>
              <a:defRPr sz="1800">
                <a:solidFill>
                  <a:srgbClr val="282828"/>
                </a:solidFill>
              </a:defRPr>
            </a:pPr>
            <a:r>
              <a:rPr sz="1700"/>
              <a:t>lexical backbone of the hybrid</a:t>
            </a:r>
            <a:r>
              <a:rPr lang="en-US" sz="1700"/>
              <a:t> </a:t>
            </a:r>
            <a:r>
              <a:rPr sz="1700"/>
              <a:t>retrieval system, contributing precision when users </a:t>
            </a:r>
            <a:endParaRPr sz="1700"/>
          </a:p>
          <a:p>
            <a:pPr marL="0" indent="0">
              <a:buNone/>
              <a:defRPr sz="1800">
                <a:solidFill>
                  <a:srgbClr val="282828"/>
                </a:solidFill>
              </a:defRPr>
            </a:pPr>
            <a:r>
              <a:rPr sz="1700"/>
              <a:t>search with well-defined legal</a:t>
            </a:r>
            <a:r>
              <a:rPr lang="en-US" sz="1700"/>
              <a:t> </a:t>
            </a:r>
            <a:r>
              <a:rPr sz="1700"/>
              <a:t>keywords or issue‑specific terminology.</a:t>
            </a:r>
            <a:endParaRPr sz="17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TF-IDF Importance</a:t>
            </a:r>
          </a:p>
        </p:txBody>
      </p:sp>
      <p:sp>
        <p:nvSpPr>
          <p:cNvPr id="3" name="Content Placeholder 2"/>
          <p:cNvSpPr>
            <a:spLocks noGrp="1"/>
          </p:cNvSpPr>
          <p:nvPr>
            <p:ph idx="1"/>
          </p:nvPr>
        </p:nvSpPr>
        <p:spPr>
          <a:xfrm>
            <a:off x="510540" y="1288415"/>
            <a:ext cx="8229600" cy="4525963"/>
          </a:xfrm>
        </p:spPr>
        <p:txBody>
          <a:bodyPr/>
          <a:lstStyle/>
          <a:p/>
          <a:p>
            <a:pPr marL="0" indent="0">
              <a:buNone/>
              <a:defRPr sz="1800">
                <a:solidFill>
                  <a:srgbClr val="282828"/>
                </a:solidFill>
              </a:defRPr>
            </a:pPr>
            <a:r>
              <a:t>TF-IDF enhances the retrieval system by emphasizing rare, meaningful terms </a:t>
            </a:r>
          </a:p>
          <a:p>
            <a:pPr marL="0" indent="0">
              <a:buNone/>
              <a:defRPr sz="1800">
                <a:solidFill>
                  <a:srgbClr val="282828"/>
                </a:solidFill>
              </a:defRPr>
            </a:pPr>
            <a:r>
              <a:t>over common</a:t>
            </a:r>
            <a:r>
              <a:rPr lang="en-US"/>
              <a:t> </a:t>
            </a:r>
            <a:r>
              <a:t>ones. In legal datasets, specialized terminology—such as “mens</a:t>
            </a:r>
          </a:p>
          <a:p>
            <a:pPr marL="0" indent="0">
              <a:buNone/>
              <a:defRPr sz="1800">
                <a:solidFill>
                  <a:srgbClr val="282828"/>
                </a:solidFill>
              </a:defRPr>
            </a:pPr>
            <a:r>
              <a:rPr lang="en-US"/>
              <a:t> </a:t>
            </a:r>
            <a:r>
              <a:t>rea,” “negligence,” or</a:t>
            </a:r>
            <a:r>
              <a:rPr lang="en-US"/>
              <a:t> </a:t>
            </a:r>
            <a:r>
              <a:t>“forcible detainer”—may appear in only a small subset of </a:t>
            </a:r>
          </a:p>
          <a:p>
            <a:pPr marL="0" indent="0">
              <a:buNone/>
              <a:defRPr sz="1800">
                <a:solidFill>
                  <a:srgbClr val="282828"/>
                </a:solidFill>
              </a:defRPr>
            </a:pPr>
            <a:r>
              <a:t>judgments. TF-IDF effectively</a:t>
            </a:r>
            <a:r>
              <a:rPr lang="en-US"/>
              <a:t> </a:t>
            </a:r>
            <a:r>
              <a:t>identifies and highlights such terms, making it </a:t>
            </a:r>
          </a:p>
          <a:p>
            <a:pPr marL="0" indent="0">
              <a:buNone/>
              <a:defRPr sz="1800">
                <a:solidFill>
                  <a:srgbClr val="282828"/>
                </a:solidFill>
              </a:defRPr>
            </a:pPr>
            <a:r>
              <a:t>particularly useful when queries involve</a:t>
            </a:r>
            <a:r>
              <a:rPr lang="en-US"/>
              <a:t> </a:t>
            </a:r>
            <a:r>
              <a:t>descriptive or technical language. This </a:t>
            </a:r>
          </a:p>
          <a:p>
            <a:pPr marL="0" indent="0">
              <a:buNone/>
              <a:defRPr sz="1800">
                <a:solidFill>
                  <a:srgbClr val="282828"/>
                </a:solidFill>
              </a:defRPr>
            </a:pPr>
            <a:r>
              <a:t>statistical weighting helps differentiatejudgments that genuinely focus on </a:t>
            </a:r>
          </a:p>
          <a:p>
            <a:pPr marL="0" indent="0">
              <a:buNone/>
              <a:defRPr sz="1800">
                <a:solidFill>
                  <a:srgbClr val="282828"/>
                </a:solidFill>
              </a:defRPr>
            </a:pPr>
            <a:r>
              <a:t>specific legal issues from those that only mentionsimilar vocabulary superficially.</a:t>
            </a:r>
          </a:p>
          <a:p>
            <a:pPr marL="0" indent="0">
              <a:buNone/>
              <a:defRPr sz="1800">
                <a:solidFill>
                  <a:srgbClr val="282828"/>
                </a:solidFill>
              </a:defRPr>
            </a:pPr>
            <a:r>
              <a:t>Thus, TF-IDF plays a crucial role in improving the depth</a:t>
            </a:r>
            <a:r>
              <a:rPr lang="en-US"/>
              <a:t> </a:t>
            </a:r>
            <a:r>
              <a:t>and relevance of </a:t>
            </a:r>
          </a:p>
          <a:p>
            <a:pPr marL="0" indent="0">
              <a:buNone/>
              <a:defRPr sz="1800">
                <a:solidFill>
                  <a:srgbClr val="282828"/>
                </a:solidFill>
              </a:defRPr>
            </a:pPr>
            <a:r>
              <a:t>retrieval results.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LSA Semantic Modelling</a:t>
            </a:r>
          </a:p>
        </p:txBody>
      </p:sp>
      <p:sp>
        <p:nvSpPr>
          <p:cNvPr id="3" name="Content Placeholder 2"/>
          <p:cNvSpPr>
            <a:spLocks noGrp="1"/>
          </p:cNvSpPr>
          <p:nvPr>
            <p:ph idx="1"/>
          </p:nvPr>
        </p:nvSpPr>
        <p:spPr/>
        <p:txBody>
          <a:bodyPr/>
          <a:lstStyle/>
          <a:p/>
          <a:p>
            <a:pPr marL="0" indent="0">
              <a:buNone/>
              <a:defRPr sz="1800">
                <a:solidFill>
                  <a:srgbClr val="282828"/>
                </a:solidFill>
              </a:defRPr>
            </a:pPr>
            <a:r>
              <a:rPr sz="1600"/>
              <a:t>LSA expands retrieval capabilities by uncovering latent semantic relationships between</a:t>
            </a:r>
            <a:endParaRPr sz="1600"/>
          </a:p>
          <a:p>
            <a:pPr marL="0" indent="0">
              <a:buNone/>
              <a:defRPr sz="1800">
                <a:solidFill>
                  <a:srgbClr val="282828"/>
                </a:solidFill>
              </a:defRPr>
            </a:pPr>
            <a:r>
              <a:rPr sz="1600"/>
              <a:t>judgments. Unlike BM25 or TF-IDF, which rely on surface-level word occurrences, LSA</a:t>
            </a:r>
            <a:endParaRPr sz="1600"/>
          </a:p>
          <a:p>
            <a:pPr marL="0" indent="0">
              <a:buNone/>
              <a:defRPr sz="1800">
                <a:solidFill>
                  <a:srgbClr val="282828"/>
                </a:solidFill>
              </a:defRPr>
            </a:pPr>
            <a:r>
              <a:rPr sz="1600"/>
              <a:t>examines patterns of word co-occurrence across the entire corpus to infer conceptual</a:t>
            </a:r>
            <a:endParaRPr sz="1600"/>
          </a:p>
          <a:p>
            <a:pPr marL="0" indent="0">
              <a:buNone/>
              <a:defRPr sz="1800">
                <a:solidFill>
                  <a:srgbClr val="282828"/>
                </a:solidFill>
              </a:defRPr>
            </a:pPr>
            <a:r>
              <a:rPr sz="1600"/>
              <a:t>meaning. This enables the system to recognize when two judgments discuss similar legal</a:t>
            </a:r>
            <a:endParaRPr sz="1600"/>
          </a:p>
          <a:p>
            <a:pPr marL="0" indent="0">
              <a:buNone/>
              <a:defRPr sz="1800">
                <a:solidFill>
                  <a:srgbClr val="282828"/>
                </a:solidFill>
              </a:defRPr>
            </a:pPr>
            <a:r>
              <a:rPr sz="1600"/>
              <a:t>principles even if they use different vocabulary. LSA is especially valuable in legal</a:t>
            </a:r>
            <a:endParaRPr sz="1600"/>
          </a:p>
          <a:p>
            <a:pPr marL="0" indent="0">
              <a:buNone/>
              <a:defRPr sz="1800">
                <a:solidFill>
                  <a:srgbClr val="282828"/>
                </a:solidFill>
              </a:defRPr>
            </a:pPr>
            <a:r>
              <a:rPr sz="1600"/>
              <a:t>research because legal reasoning tends to follow conceptual structures, and similar </a:t>
            </a:r>
            <a:endParaRPr sz="1600"/>
          </a:p>
          <a:p>
            <a:pPr marL="0" indent="0">
              <a:buNone/>
              <a:defRPr sz="1800">
                <a:solidFill>
                  <a:srgbClr val="282828"/>
                </a:solidFill>
              </a:defRPr>
            </a:pPr>
            <a:r>
              <a:rPr sz="1600"/>
              <a:t>issues</a:t>
            </a:r>
            <a:r>
              <a:rPr lang="en-US" sz="1600"/>
              <a:t> </a:t>
            </a:r>
            <a:r>
              <a:rPr sz="1600"/>
              <a:t>may be expressed differently across cases. By capturing these hidden </a:t>
            </a:r>
            <a:endParaRPr sz="1600"/>
          </a:p>
          <a:p>
            <a:pPr marL="0" indent="0">
              <a:buNone/>
              <a:defRPr sz="1800">
                <a:solidFill>
                  <a:srgbClr val="282828"/>
                </a:solidFill>
              </a:defRPr>
            </a:pPr>
            <a:r>
              <a:rPr sz="1600"/>
              <a:t>relationships, LSA</a:t>
            </a:r>
            <a:r>
              <a:rPr lang="en-US" sz="1600"/>
              <a:t>  </a:t>
            </a:r>
            <a:r>
              <a:rPr sz="1600"/>
              <a:t>significantly enhances semantic matching and recommendation </a:t>
            </a:r>
            <a:endParaRPr sz="1600"/>
          </a:p>
          <a:p>
            <a:pPr marL="0" indent="0">
              <a:buNone/>
              <a:defRPr sz="1800">
                <a:solidFill>
                  <a:srgbClr val="282828"/>
                </a:solidFill>
              </a:defRPr>
            </a:pPr>
            <a:r>
              <a:rPr sz="1600"/>
              <a:t>accuracy.</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Hybrid Retrieval Engine</a:t>
            </a:r>
          </a:p>
        </p:txBody>
      </p:sp>
      <p:sp>
        <p:nvSpPr>
          <p:cNvPr id="3" name="Content Placeholder 2"/>
          <p:cNvSpPr>
            <a:spLocks noGrp="1"/>
          </p:cNvSpPr>
          <p:nvPr>
            <p:ph idx="1"/>
          </p:nvPr>
        </p:nvSpPr>
        <p:spPr/>
        <p:txBody>
          <a:bodyPr/>
          <a:lstStyle/>
          <a:p>
            <a:endParaRPr sz="1700"/>
          </a:p>
          <a:p>
            <a:pPr marL="0" indent="0">
              <a:buNone/>
              <a:defRPr sz="1800">
                <a:solidFill>
                  <a:srgbClr val="282828"/>
                </a:solidFill>
              </a:defRPr>
            </a:pPr>
            <a:r>
              <a:rPr sz="1700"/>
              <a:t>The hybrid retrieval engine combines BM25, TF-IDF, and LSA using weighted </a:t>
            </a:r>
            <a:endParaRPr sz="1700"/>
          </a:p>
          <a:p>
            <a:pPr marL="0" indent="0">
              <a:buNone/>
              <a:defRPr sz="1800">
                <a:solidFill>
                  <a:srgbClr val="282828"/>
                </a:solidFill>
              </a:defRPr>
            </a:pPr>
            <a:r>
              <a:rPr sz="1700"/>
              <a:t>scoring tobalance lexical precision and semantic depth. This ensures that judgments </a:t>
            </a:r>
            <a:endParaRPr sz="1700"/>
          </a:p>
          <a:p>
            <a:pPr marL="0" indent="0">
              <a:buNone/>
              <a:defRPr sz="1800">
                <a:solidFill>
                  <a:srgbClr val="282828"/>
                </a:solidFill>
              </a:defRPr>
            </a:pPr>
            <a:r>
              <a:rPr sz="1700"/>
              <a:t>are evaluatedbased on both literal keyword matches and conceptual alignment. </a:t>
            </a:r>
            <a:endParaRPr sz="1700"/>
          </a:p>
          <a:p>
            <a:pPr marL="0" indent="0">
              <a:buNone/>
              <a:defRPr sz="1800">
                <a:solidFill>
                  <a:srgbClr val="282828"/>
                </a:solidFill>
              </a:defRPr>
            </a:pPr>
            <a:r>
              <a:rPr sz="1700"/>
              <a:t>Such a hybrid modelperforms well across a variety of query styles—short queries,</a:t>
            </a:r>
            <a:endParaRPr sz="1700"/>
          </a:p>
          <a:p>
            <a:pPr marL="0" indent="0">
              <a:buNone/>
              <a:defRPr sz="1800">
                <a:solidFill>
                  <a:srgbClr val="282828"/>
                </a:solidFill>
              </a:defRPr>
            </a:pPr>
            <a:r>
              <a:rPr sz="1700"/>
              <a:t>descriptive queries,ambiguous queries, and multi‑issue queries. The weighted </a:t>
            </a:r>
            <a:endParaRPr sz="1700"/>
          </a:p>
          <a:p>
            <a:pPr marL="0" indent="0">
              <a:buNone/>
              <a:defRPr sz="1800">
                <a:solidFill>
                  <a:srgbClr val="282828"/>
                </a:solidFill>
              </a:defRPr>
            </a:pPr>
            <a:r>
              <a:rPr sz="1700"/>
              <a:t>scoring architecture offersflexibility, allowing the system to adapt its emphasis </a:t>
            </a:r>
            <a:endParaRPr sz="1700"/>
          </a:p>
          <a:p>
            <a:pPr marL="0" indent="0">
              <a:buNone/>
              <a:defRPr sz="1800">
                <a:solidFill>
                  <a:srgbClr val="282828"/>
                </a:solidFill>
              </a:defRPr>
            </a:pPr>
            <a:r>
              <a:rPr sz="1700"/>
              <a:t>depending on the nature of theinput query. This integrated approach consistently </a:t>
            </a:r>
            <a:endParaRPr sz="1700"/>
          </a:p>
          <a:p>
            <a:pPr marL="0" indent="0">
              <a:buNone/>
              <a:defRPr sz="1800">
                <a:solidFill>
                  <a:srgbClr val="282828"/>
                </a:solidFill>
              </a:defRPr>
            </a:pPr>
            <a:r>
              <a:rPr sz="1700"/>
              <a:t>outperforms single‑method retrieval</a:t>
            </a:r>
            <a:r>
              <a:rPr lang="en-US" sz="1700"/>
              <a:t> </a:t>
            </a:r>
            <a:r>
              <a:rPr sz="1700"/>
              <a:t>techniques, making it well‑suited for real-</a:t>
            </a:r>
            <a:endParaRPr sz="1700"/>
          </a:p>
          <a:p>
            <a:pPr marL="0" indent="0">
              <a:buNone/>
              <a:defRPr sz="1800">
                <a:solidFill>
                  <a:srgbClr val="282828"/>
                </a:solidFill>
              </a:defRPr>
            </a:pPr>
            <a:r>
              <a:rPr sz="1700"/>
              <a:t>world legal workflows.</a:t>
            </a:r>
            <a:endParaRPr sz="17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KMeans Clustering</a:t>
            </a:r>
          </a:p>
        </p:txBody>
      </p:sp>
      <p:sp>
        <p:nvSpPr>
          <p:cNvPr id="3" name="Content Placeholder 2"/>
          <p:cNvSpPr>
            <a:spLocks noGrp="1"/>
          </p:cNvSpPr>
          <p:nvPr>
            <p:ph idx="1"/>
          </p:nvPr>
        </p:nvSpPr>
        <p:spPr/>
        <p:txBody>
          <a:bodyPr/>
          <a:lstStyle/>
          <a:p/>
          <a:p>
            <a:pPr marL="0" indent="0">
              <a:buNone/>
              <a:defRPr sz="1800">
                <a:solidFill>
                  <a:srgbClr val="282828"/>
                </a:solidFill>
              </a:defRPr>
            </a:pPr>
            <a:r>
              <a:rPr sz="1700"/>
              <a:t>Clustering adds an exploratory dimension to the search engine by grouping</a:t>
            </a:r>
            <a:endParaRPr sz="1700"/>
          </a:p>
          <a:p>
            <a:pPr marL="0" indent="0">
              <a:buNone/>
              <a:defRPr sz="1800">
                <a:solidFill>
                  <a:srgbClr val="282828"/>
                </a:solidFill>
              </a:defRPr>
            </a:pPr>
            <a:r>
              <a:rPr sz="1700"/>
              <a:t>judgments into</a:t>
            </a:r>
            <a:r>
              <a:rPr lang="en-US" sz="1700"/>
              <a:t> </a:t>
            </a:r>
            <a:r>
              <a:rPr sz="1700"/>
              <a:t>coherent legal themes using KMeans. Applied on LSA embeddings,</a:t>
            </a:r>
            <a:endParaRPr sz="1700"/>
          </a:p>
          <a:p>
            <a:pPr marL="0" indent="0">
              <a:buNone/>
              <a:defRPr sz="1800">
                <a:solidFill>
                  <a:srgbClr val="282828"/>
                </a:solidFill>
              </a:defRPr>
            </a:pPr>
            <a:r>
              <a:rPr sz="1700"/>
              <a:t>clustering identifies</a:t>
            </a:r>
            <a:r>
              <a:rPr lang="en-US" sz="1700"/>
              <a:t> </a:t>
            </a:r>
            <a:r>
              <a:rPr sz="1700"/>
              <a:t>patterns that reveal how cases relate conceptually. Each cluster</a:t>
            </a:r>
            <a:endParaRPr sz="1700"/>
          </a:p>
          <a:p>
            <a:pPr marL="0" indent="0">
              <a:buNone/>
              <a:defRPr sz="1800">
                <a:solidFill>
                  <a:srgbClr val="282828"/>
                </a:solidFill>
              </a:defRPr>
            </a:pPr>
            <a:r>
              <a:rPr sz="1700"/>
              <a:t>may represent topics such</a:t>
            </a:r>
            <a:r>
              <a:rPr lang="en-US" sz="1700"/>
              <a:t> </a:t>
            </a:r>
            <a:r>
              <a:rPr sz="1700"/>
              <a:t>as criminal liability, property disputes, financial </a:t>
            </a:r>
            <a:endParaRPr sz="1700"/>
          </a:p>
          <a:p>
            <a:pPr marL="0" indent="0">
              <a:buNone/>
              <a:defRPr sz="1800">
                <a:solidFill>
                  <a:srgbClr val="282828"/>
                </a:solidFill>
              </a:defRPr>
            </a:pPr>
            <a:r>
              <a:rPr sz="1700"/>
              <a:t>regulation, or administrative rulings.This organization helps users understand </a:t>
            </a:r>
            <a:endParaRPr sz="1700"/>
          </a:p>
          <a:p>
            <a:pPr marL="0" indent="0">
              <a:buNone/>
              <a:defRPr sz="1800">
                <a:solidFill>
                  <a:srgbClr val="282828"/>
                </a:solidFill>
              </a:defRPr>
            </a:pPr>
            <a:r>
              <a:rPr sz="1700"/>
              <a:t>broader legal landscapes and discover cases they</a:t>
            </a:r>
            <a:r>
              <a:rPr lang="en-US" sz="1700"/>
              <a:t> </a:t>
            </a:r>
            <a:r>
              <a:rPr sz="1700"/>
              <a:t>might not have explicitly queried.</a:t>
            </a:r>
            <a:endParaRPr sz="1700"/>
          </a:p>
          <a:p>
            <a:pPr marL="0" indent="0">
              <a:buNone/>
              <a:defRPr sz="1800">
                <a:solidFill>
                  <a:srgbClr val="282828"/>
                </a:solidFill>
              </a:defRPr>
            </a:pPr>
            <a:r>
              <a:rPr sz="1700"/>
              <a:t>Clustering not only enhances interpretability but also</a:t>
            </a:r>
            <a:r>
              <a:rPr lang="en-US" sz="1700"/>
              <a:t> </a:t>
            </a:r>
            <a:r>
              <a:rPr sz="1700"/>
              <a:t>strengthens the </a:t>
            </a:r>
            <a:endParaRPr sz="1700"/>
          </a:p>
          <a:p>
            <a:pPr marL="0" indent="0">
              <a:buNone/>
              <a:defRPr sz="1800">
                <a:solidFill>
                  <a:srgbClr val="282828"/>
                </a:solidFill>
              </a:defRPr>
            </a:pPr>
            <a:r>
              <a:rPr sz="1700"/>
              <a:t>recommendation engine, as cases within the same semantic cluster often</a:t>
            </a:r>
            <a:r>
              <a:rPr lang="en-US" sz="1700"/>
              <a:t>  </a:t>
            </a:r>
            <a:r>
              <a:rPr sz="1700"/>
              <a:t>share </a:t>
            </a:r>
            <a:endParaRPr sz="1700"/>
          </a:p>
          <a:p>
            <a:pPr marL="0" indent="0">
              <a:buNone/>
              <a:defRPr sz="1800">
                <a:solidFill>
                  <a:srgbClr val="282828"/>
                </a:solidFill>
              </a:defRPr>
            </a:pPr>
            <a:r>
              <a:rPr sz="1700"/>
              <a:t>legal reasoning patterns.</a:t>
            </a:r>
            <a:endParaRPr sz="17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Search Engine Workflow</a:t>
            </a:r>
          </a:p>
        </p:txBody>
      </p:sp>
      <p:sp>
        <p:nvSpPr>
          <p:cNvPr id="3" name="Content Placeholder 2"/>
          <p:cNvSpPr>
            <a:spLocks noGrp="1"/>
          </p:cNvSpPr>
          <p:nvPr>
            <p:ph idx="1"/>
          </p:nvPr>
        </p:nvSpPr>
        <p:spPr/>
        <p:txBody>
          <a:bodyPr/>
          <a:lstStyle/>
          <a:p/>
          <a:p>
            <a:pPr marL="0" indent="0">
              <a:buNone/>
              <a:defRPr sz="1800">
                <a:solidFill>
                  <a:srgbClr val="282828"/>
                </a:solidFill>
              </a:defRPr>
            </a:pPr>
            <a:r>
              <a:rPr sz="1700"/>
              <a:t>The search engine follows a structured workflow beginning with user query input.</a:t>
            </a:r>
            <a:endParaRPr sz="1700"/>
          </a:p>
          <a:p>
            <a:pPr marL="0" indent="0">
              <a:buNone/>
              <a:defRPr sz="1800">
                <a:solidFill>
                  <a:srgbClr val="282828"/>
                </a:solidFill>
              </a:defRPr>
            </a:pPr>
            <a:r>
              <a:rPr sz="1700"/>
              <a:t>Thesystem preprocesses and vectorizes the query to align it with judgment vectors. </a:t>
            </a:r>
            <a:endParaRPr sz="1700"/>
          </a:p>
          <a:p>
            <a:pPr marL="0" indent="0">
              <a:buNone/>
              <a:defRPr sz="1800">
                <a:solidFill>
                  <a:srgbClr val="282828"/>
                </a:solidFill>
              </a:defRPr>
            </a:pPr>
            <a:r>
              <a:rPr sz="1700"/>
              <a:t>Hybridscoring ranks all judgments, and the top ten results are presented along with </a:t>
            </a:r>
            <a:endParaRPr sz="1700"/>
          </a:p>
          <a:p>
            <a:pPr marL="0" indent="0">
              <a:buNone/>
              <a:defRPr sz="1800">
                <a:solidFill>
                  <a:srgbClr val="282828"/>
                </a:solidFill>
              </a:defRPr>
            </a:pPr>
            <a:r>
              <a:rPr sz="1700"/>
              <a:t>clusterassignments, matching token highlights, and temporal metadata. Users may </a:t>
            </a:r>
            <a:endParaRPr sz="1700"/>
          </a:p>
          <a:p>
            <a:pPr marL="0" indent="0">
              <a:buNone/>
              <a:defRPr sz="1800">
                <a:solidFill>
                  <a:srgbClr val="282828"/>
                </a:solidFill>
              </a:defRPr>
            </a:pPr>
            <a:r>
              <a:rPr sz="1700"/>
              <a:t>repeatedly refinequeries, explore results, or request recommendations without </a:t>
            </a:r>
            <a:endParaRPr sz="1700"/>
          </a:p>
          <a:p>
            <a:pPr marL="0" indent="0">
              <a:buNone/>
              <a:defRPr sz="1800">
                <a:solidFill>
                  <a:srgbClr val="282828"/>
                </a:solidFill>
              </a:defRPr>
            </a:pPr>
            <a:r>
              <a:rPr sz="1700"/>
              <a:t>restarting the system. Theworkflow is designed to mimic real-world legal research </a:t>
            </a:r>
            <a:endParaRPr sz="1700"/>
          </a:p>
          <a:p>
            <a:pPr marL="0" indent="0">
              <a:buNone/>
              <a:defRPr sz="1800">
                <a:solidFill>
                  <a:srgbClr val="282828"/>
                </a:solidFill>
              </a:defRPr>
            </a:pPr>
            <a:r>
              <a:rPr sz="1700"/>
              <a:t>behavior, ensuring smoothnavigation, quick retrieval, and meaningful insights, </a:t>
            </a:r>
            <a:endParaRPr sz="1700"/>
          </a:p>
          <a:p>
            <a:pPr marL="0" indent="0">
              <a:buNone/>
              <a:defRPr sz="1800">
                <a:solidFill>
                  <a:srgbClr val="282828"/>
                </a:solidFill>
              </a:defRPr>
            </a:pPr>
            <a:r>
              <a:rPr sz="1700"/>
              <a:t>allowing users to study relevantjudgments efficiently and explore legal concepts </a:t>
            </a:r>
            <a:endParaRPr sz="1700"/>
          </a:p>
          <a:p>
            <a:pPr marL="0" indent="0">
              <a:buNone/>
              <a:defRPr sz="1800">
                <a:solidFill>
                  <a:srgbClr val="282828"/>
                </a:solidFill>
              </a:defRPr>
            </a:pPr>
            <a:r>
              <a:rPr sz="1700"/>
              <a:t>deeply.</a:t>
            </a:r>
            <a:endParaRPr sz="17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Explainability Features</a:t>
            </a:r>
          </a:p>
        </p:txBody>
      </p:sp>
      <p:sp>
        <p:nvSpPr>
          <p:cNvPr id="3" name="Content Placeholder 2"/>
          <p:cNvSpPr>
            <a:spLocks noGrp="1"/>
          </p:cNvSpPr>
          <p:nvPr>
            <p:ph idx="1"/>
          </p:nvPr>
        </p:nvSpPr>
        <p:spPr/>
        <p:txBody>
          <a:bodyPr/>
          <a:lstStyle/>
          <a:p/>
          <a:p>
            <a:pPr marL="0" indent="0">
              <a:buNone/>
              <a:defRPr sz="1800">
                <a:solidFill>
                  <a:srgbClr val="282828"/>
                </a:solidFill>
              </a:defRPr>
            </a:pPr>
            <a:r>
              <a:rPr sz="1700"/>
              <a:t>Explainability is essential in legal research because users must trust why certain</a:t>
            </a:r>
            <a:endParaRPr sz="1700"/>
          </a:p>
          <a:p>
            <a:pPr marL="0" indent="0">
              <a:buNone/>
              <a:defRPr sz="1800">
                <a:solidFill>
                  <a:srgbClr val="282828"/>
                </a:solidFill>
              </a:defRPr>
            </a:pPr>
            <a:r>
              <a:rPr sz="1700"/>
              <a:t>judgments were retrieved. The system highlights matching words between the query </a:t>
            </a:r>
            <a:endParaRPr sz="1700"/>
          </a:p>
          <a:p>
            <a:pPr marL="0" indent="0">
              <a:buNone/>
              <a:defRPr sz="1800">
                <a:solidFill>
                  <a:srgbClr val="282828"/>
                </a:solidFill>
              </a:defRPr>
            </a:pPr>
            <a:r>
              <a:rPr sz="1700"/>
              <a:t>and</a:t>
            </a:r>
            <a:r>
              <a:rPr lang="en-US" sz="1700"/>
              <a:t> </a:t>
            </a:r>
            <a:r>
              <a:rPr sz="1700"/>
              <a:t>judgment text, revealing which portions influenced ranking. Cluster information </a:t>
            </a:r>
            <a:endParaRPr sz="1700"/>
          </a:p>
          <a:p>
            <a:pPr marL="0" indent="0">
              <a:buNone/>
              <a:defRPr sz="1800">
                <a:solidFill>
                  <a:srgbClr val="282828"/>
                </a:solidFill>
              </a:defRPr>
            </a:pPr>
            <a:r>
              <a:rPr sz="1700"/>
              <a:t>further</a:t>
            </a:r>
            <a:r>
              <a:rPr lang="en-US" sz="1700"/>
              <a:t> </a:t>
            </a:r>
            <a:r>
              <a:rPr sz="1700"/>
              <a:t>contextualizes results by showing their thematic grouping. These features </a:t>
            </a:r>
            <a:endParaRPr sz="1700"/>
          </a:p>
          <a:p>
            <a:pPr marL="0" indent="0">
              <a:buNone/>
              <a:defRPr sz="1800">
                <a:solidFill>
                  <a:srgbClr val="282828"/>
                </a:solidFill>
              </a:defRPr>
            </a:pPr>
            <a:r>
              <a:rPr sz="1700"/>
              <a:t>help users</a:t>
            </a:r>
            <a:r>
              <a:rPr lang="en-US" sz="1700"/>
              <a:t> </a:t>
            </a:r>
            <a:r>
              <a:rPr sz="1700"/>
              <a:t>validate retrieved documents quickly without reading full judgments. By </a:t>
            </a:r>
            <a:endParaRPr sz="1700"/>
          </a:p>
          <a:p>
            <a:pPr marL="0" indent="0">
              <a:buNone/>
              <a:defRPr sz="1800">
                <a:solidFill>
                  <a:srgbClr val="282828"/>
                </a:solidFill>
              </a:defRPr>
            </a:pPr>
            <a:r>
              <a:rPr sz="1700"/>
              <a:t>making the</a:t>
            </a:r>
            <a:r>
              <a:rPr lang="en-US" sz="1700"/>
              <a:t> </a:t>
            </a:r>
            <a:r>
              <a:rPr sz="1700"/>
              <a:t>retrieval transparent and interpretable, the system aligns with legal </a:t>
            </a:r>
            <a:endParaRPr sz="1700"/>
          </a:p>
          <a:p>
            <a:pPr marL="0" indent="0">
              <a:buNone/>
              <a:defRPr sz="1800">
                <a:solidFill>
                  <a:srgbClr val="282828"/>
                </a:solidFill>
              </a:defRPr>
            </a:pPr>
            <a:r>
              <a:rPr sz="1700"/>
              <a:t>standards that</a:t>
            </a:r>
            <a:r>
              <a:rPr lang="en-US" sz="1700"/>
              <a:t> </a:t>
            </a:r>
            <a:r>
              <a:rPr sz="1700"/>
              <a:t>demand clarity, auditability, and reasoning traceability, which are </a:t>
            </a:r>
            <a:endParaRPr sz="1700"/>
          </a:p>
          <a:p>
            <a:pPr marL="0" indent="0">
              <a:buNone/>
              <a:defRPr sz="1800">
                <a:solidFill>
                  <a:srgbClr val="282828"/>
                </a:solidFill>
              </a:defRPr>
            </a:pPr>
            <a:r>
              <a:rPr sz="1700"/>
              <a:t>critical in</a:t>
            </a:r>
            <a:r>
              <a:rPr lang="en-US" sz="1700"/>
              <a:t> </a:t>
            </a:r>
            <a:r>
              <a:rPr sz="1700"/>
              <a:t>professional use cases.</a:t>
            </a:r>
            <a:endParaRPr sz="1700"/>
          </a:p>
          <a:p>
            <a:pPr marL="0" indent="0">
              <a:buNone/>
              <a:defRPr sz="1800">
                <a:solidFill>
                  <a:srgbClr val="282828"/>
                </a:solidFill>
              </a:defRPr>
            </a:pPr>
            <a:endParaRPr sz="17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Recommendation System</a:t>
            </a:r>
          </a:p>
        </p:txBody>
      </p:sp>
      <p:sp>
        <p:nvSpPr>
          <p:cNvPr id="3" name="Content Placeholder 2"/>
          <p:cNvSpPr>
            <a:spLocks noGrp="1"/>
          </p:cNvSpPr>
          <p:nvPr>
            <p:ph idx="1"/>
          </p:nvPr>
        </p:nvSpPr>
        <p:spPr/>
        <p:txBody>
          <a:bodyPr/>
          <a:lstStyle/>
          <a:p/>
          <a:p>
            <a:pPr marL="0" indent="0">
              <a:buNone/>
              <a:defRPr sz="1800">
                <a:solidFill>
                  <a:srgbClr val="282828"/>
                </a:solidFill>
              </a:defRPr>
            </a:pPr>
            <a:r>
              <a:t>The recommendation engine extends research by suggesting judgments semantically similar to</a:t>
            </a:r>
            <a:r>
              <a:rPr lang="en-US"/>
              <a:t> </a:t>
            </a:r>
            <a:r>
              <a:t>a selected result. Using cosine similarity on LSA </a:t>
            </a:r>
          </a:p>
          <a:p>
            <a:pPr marL="0" indent="0">
              <a:buNone/>
              <a:defRPr sz="1800">
                <a:solidFill>
                  <a:srgbClr val="282828"/>
                </a:solidFill>
              </a:defRPr>
            </a:pPr>
            <a:r>
              <a:t>embeddings, the system identifies cases</a:t>
            </a:r>
            <a:r>
              <a:rPr lang="en-US"/>
              <a:t> </a:t>
            </a:r>
            <a:r>
              <a:t>that discuss closely related concepts</a:t>
            </a:r>
          </a:p>
          <a:p>
            <a:pPr marL="0" indent="0">
              <a:buNone/>
              <a:defRPr sz="1800">
                <a:solidFill>
                  <a:srgbClr val="282828"/>
                </a:solidFill>
              </a:defRPr>
            </a:pPr>
            <a:r>
              <a:t>even if they lack identical vocabulary. Lawyers</a:t>
            </a:r>
            <a:r>
              <a:rPr lang="en-US"/>
              <a:t> </a:t>
            </a:r>
            <a:r>
              <a:t>often study chains of </a:t>
            </a:r>
          </a:p>
          <a:p>
            <a:pPr marL="0" indent="0">
              <a:buNone/>
              <a:defRPr sz="1800">
                <a:solidFill>
                  <a:srgbClr val="282828"/>
                </a:solidFill>
              </a:defRPr>
            </a:pPr>
            <a:r>
              <a:t>precedents, and this system automatically uncovers such connections.</a:t>
            </a:r>
          </a:p>
          <a:p>
            <a:pPr marL="0" indent="0">
              <a:buNone/>
              <a:defRPr sz="1800">
                <a:solidFill>
                  <a:srgbClr val="282828"/>
                </a:solidFill>
              </a:defRPr>
            </a:pPr>
            <a:r>
              <a:t>The recommendation engine strengthens understanding of legal topics, </a:t>
            </a:r>
          </a:p>
          <a:p>
            <a:pPr marL="0" indent="0">
              <a:buNone/>
              <a:defRPr sz="1800">
                <a:solidFill>
                  <a:srgbClr val="282828"/>
                </a:solidFill>
              </a:defRPr>
            </a:pPr>
            <a:r>
              <a:t>exposes hidden</a:t>
            </a:r>
            <a:r>
              <a:rPr lang="en-US"/>
              <a:t> </a:t>
            </a:r>
            <a:r>
              <a:t>relationships, and accelerates deep research, making it a</a:t>
            </a:r>
          </a:p>
          <a:p>
            <a:pPr marL="0" indent="0">
              <a:buNone/>
              <a:defRPr sz="1800">
                <a:solidFill>
                  <a:srgbClr val="282828"/>
                </a:solidFill>
              </a:defRPr>
            </a:pPr>
            <a:r>
              <a:t> powerful complement to the</a:t>
            </a:r>
            <a:r>
              <a:rPr lang="en-US"/>
              <a:t> </a:t>
            </a:r>
            <a:r>
              <a:t>primary retrieval engine.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Filtering &amp; Year Logic</a:t>
            </a:r>
          </a:p>
        </p:txBody>
      </p:sp>
      <p:sp>
        <p:nvSpPr>
          <p:cNvPr id="3" name="Content Placeholder 2"/>
          <p:cNvSpPr>
            <a:spLocks noGrp="1"/>
          </p:cNvSpPr>
          <p:nvPr>
            <p:ph idx="1"/>
          </p:nvPr>
        </p:nvSpPr>
        <p:spPr/>
        <p:txBody>
          <a:bodyPr/>
          <a:lstStyle/>
          <a:p/>
          <a:p>
            <a:pPr marL="0" indent="0">
              <a:buNone/>
              <a:defRPr sz="1800">
                <a:solidFill>
                  <a:srgbClr val="282828"/>
                </a:solidFill>
              </a:defRPr>
            </a:pPr>
            <a:r>
              <a:rPr sz="1700"/>
              <a:t>Legal interpretations often evolve over time, and certain judgments may only be </a:t>
            </a:r>
            <a:endParaRPr sz="1700"/>
          </a:p>
          <a:p>
            <a:pPr marL="0" indent="0">
              <a:buNone/>
              <a:defRPr sz="1800">
                <a:solidFill>
                  <a:srgbClr val="282828"/>
                </a:solidFill>
              </a:defRPr>
            </a:pPr>
            <a:r>
              <a:rPr sz="1700"/>
              <a:t>relevant</a:t>
            </a:r>
            <a:r>
              <a:rPr lang="en-US" sz="1700"/>
              <a:t> </a:t>
            </a:r>
            <a:r>
              <a:rPr sz="1700"/>
              <a:t>within specific historical contexts. The system allows users to enter a year </a:t>
            </a:r>
            <a:endParaRPr sz="1700"/>
          </a:p>
          <a:p>
            <a:pPr marL="0" indent="0">
              <a:buNone/>
              <a:defRPr sz="1800">
                <a:solidFill>
                  <a:srgbClr val="282828"/>
                </a:solidFill>
              </a:defRPr>
            </a:pPr>
            <a:r>
              <a:rPr sz="1700"/>
              <a:t>range to</a:t>
            </a:r>
            <a:r>
              <a:rPr lang="en-US" sz="1700"/>
              <a:t> </a:t>
            </a:r>
            <a:r>
              <a:rPr sz="1700"/>
              <a:t>restrict retrieval to judgments from a particular legal era. This helps </a:t>
            </a:r>
            <a:endParaRPr sz="1700"/>
          </a:p>
          <a:p>
            <a:pPr marL="0" indent="0">
              <a:buNone/>
              <a:defRPr sz="1800">
                <a:solidFill>
                  <a:srgbClr val="282828"/>
                </a:solidFill>
              </a:defRPr>
            </a:pPr>
            <a:r>
              <a:rPr sz="1700"/>
              <a:t>researchers study</a:t>
            </a:r>
            <a:r>
              <a:rPr lang="en-US" sz="1700"/>
              <a:t> </a:t>
            </a:r>
            <a:r>
              <a:rPr sz="1700"/>
              <a:t>changes in judicial reasoning or find cases relevant to laws </a:t>
            </a:r>
            <a:endParaRPr sz="1700"/>
          </a:p>
          <a:p>
            <a:pPr marL="0" indent="0">
              <a:buNone/>
              <a:defRPr sz="1800">
                <a:solidFill>
                  <a:srgbClr val="282828"/>
                </a:solidFill>
              </a:defRPr>
            </a:pPr>
            <a:r>
              <a:rPr sz="1700"/>
              <a:t>applicable during a certain</a:t>
            </a:r>
            <a:r>
              <a:rPr lang="en-US" sz="1700"/>
              <a:t> </a:t>
            </a:r>
            <a:r>
              <a:rPr sz="1700"/>
              <a:t>timeframe. By integrating temporal filtering directly into</a:t>
            </a:r>
            <a:endParaRPr sz="1700"/>
          </a:p>
          <a:p>
            <a:pPr marL="0" indent="0">
              <a:buNone/>
              <a:defRPr sz="1800">
                <a:solidFill>
                  <a:srgbClr val="282828"/>
                </a:solidFill>
              </a:defRPr>
            </a:pPr>
            <a:r>
              <a:rPr sz="1700"/>
              <a:t>the workflow, the system</a:t>
            </a:r>
            <a:r>
              <a:rPr lang="en-US" sz="1700"/>
              <a:t> </a:t>
            </a:r>
            <a:r>
              <a:rPr sz="1700"/>
              <a:t>enhances relevance, ensures contextual accuracy, and </a:t>
            </a:r>
            <a:endParaRPr sz="1700"/>
          </a:p>
          <a:p>
            <a:pPr marL="0" indent="0">
              <a:buNone/>
              <a:defRPr sz="1800">
                <a:solidFill>
                  <a:srgbClr val="282828"/>
                </a:solidFill>
              </a:defRPr>
            </a:pPr>
            <a:r>
              <a:rPr sz="1700"/>
              <a:t>improves user control over the</a:t>
            </a:r>
            <a:r>
              <a:rPr lang="en-US" sz="1700"/>
              <a:t> </a:t>
            </a:r>
            <a:r>
              <a:rPr sz="1700"/>
              <a:t>retrieval process.</a:t>
            </a:r>
            <a:endParaRPr sz="17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System Evaluation</a:t>
            </a:r>
          </a:p>
        </p:txBody>
      </p:sp>
      <p:sp>
        <p:nvSpPr>
          <p:cNvPr id="3" name="Content Placeholder 2"/>
          <p:cNvSpPr>
            <a:spLocks noGrp="1"/>
          </p:cNvSpPr>
          <p:nvPr>
            <p:ph idx="1"/>
          </p:nvPr>
        </p:nvSpPr>
        <p:spPr>
          <a:xfrm>
            <a:off x="511175" y="1306195"/>
            <a:ext cx="8229600" cy="4525963"/>
          </a:xfrm>
        </p:spPr>
        <p:txBody>
          <a:bodyPr/>
          <a:lstStyle/>
          <a:p/>
          <a:p>
            <a:pPr marL="0" indent="0">
              <a:buNone/>
              <a:defRPr sz="1800">
                <a:solidFill>
                  <a:srgbClr val="282828"/>
                </a:solidFill>
              </a:defRPr>
            </a:pPr>
            <a:r>
              <a:t>The system is evaluated based on retrieval accuracy, semantic consistency,</a:t>
            </a:r>
          </a:p>
          <a:p>
            <a:pPr marL="0" indent="0">
              <a:buNone/>
              <a:defRPr sz="1800">
                <a:solidFill>
                  <a:srgbClr val="282828"/>
                </a:solidFill>
              </a:defRPr>
            </a:pPr>
            <a:r>
              <a:t>interpretability, and user experience. The hybrid model demonstrates strong </a:t>
            </a:r>
          </a:p>
          <a:p>
            <a:pPr marL="0" indent="0">
              <a:buNone/>
              <a:defRPr sz="1800">
                <a:solidFill>
                  <a:srgbClr val="282828"/>
                </a:solidFill>
              </a:defRPr>
            </a:pPr>
            <a:r>
              <a:t>performance</a:t>
            </a:r>
            <a:r>
              <a:rPr lang="en-US"/>
              <a:t> </a:t>
            </a:r>
            <a:r>
              <a:t>across varied query types by combining the strengths of lexical</a:t>
            </a:r>
          </a:p>
          <a:p>
            <a:pPr marL="0" indent="0">
              <a:buNone/>
              <a:defRPr sz="1800">
                <a:solidFill>
                  <a:srgbClr val="282828"/>
                </a:solidFill>
              </a:defRPr>
            </a:pPr>
            <a:r>
              <a:t>and semantic methods.</a:t>
            </a:r>
            <a:r>
              <a:rPr lang="en-US"/>
              <a:t> </a:t>
            </a:r>
            <a:r>
              <a:t>Clusters show meaningful grouping of legal themes</a:t>
            </a:r>
          </a:p>
          <a:p>
            <a:pPr marL="0" indent="0">
              <a:buNone/>
              <a:defRPr sz="1800">
                <a:solidFill>
                  <a:srgbClr val="282828"/>
                </a:solidFill>
              </a:defRPr>
            </a:pPr>
            <a:r>
              <a:t>validating the effectiveness of</a:t>
            </a:r>
            <a:r>
              <a:rPr lang="en-US"/>
              <a:t> </a:t>
            </a:r>
            <a:r>
              <a:t>semantic embeddings. Explainability features </a:t>
            </a:r>
          </a:p>
          <a:p>
            <a:pPr marL="0" indent="0">
              <a:buNone/>
              <a:defRPr sz="1800">
                <a:solidFill>
                  <a:srgbClr val="282828"/>
                </a:solidFill>
              </a:defRPr>
            </a:pPr>
            <a:r>
              <a:t>help users quickly assess relevance,improving trust in the system. Overall, </a:t>
            </a:r>
          </a:p>
          <a:p>
            <a:pPr marL="0" indent="0">
              <a:buNone/>
              <a:defRPr sz="1800">
                <a:solidFill>
                  <a:srgbClr val="282828"/>
                </a:solidFill>
              </a:defRPr>
            </a:pPr>
            <a:r>
              <a:t>evaluation shows that the search engine provides</a:t>
            </a:r>
            <a:r>
              <a:rPr lang="en-US"/>
              <a:t> </a:t>
            </a:r>
            <a:r>
              <a:t>high-quality results, </a:t>
            </a:r>
          </a:p>
          <a:p>
            <a:pPr marL="0" indent="0">
              <a:buNone/>
              <a:defRPr sz="1800">
                <a:solidFill>
                  <a:srgbClr val="282828"/>
                </a:solidFill>
              </a:defRPr>
            </a:pPr>
            <a:r>
              <a:t>facilitates exploratory research, and performs reliably on real</a:t>
            </a:r>
            <a:r>
              <a:rPr lang="en-US"/>
              <a:t> </a:t>
            </a:r>
            <a:r>
              <a:t>legal data.</a:t>
            </a:r>
          </a:p>
          <a:p>
            <a:pPr marL="0" indent="0">
              <a:buNone/>
              <a:defRPr sz="1800">
                <a:solidFill>
                  <a:srgbClr val="282828"/>
                </a:solidFill>
              </a:defRPr>
            </a:p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F0F5"/>
        </a:solidFill>
        <a:effectLst/>
      </p:bgPr>
    </p:bg>
    <p:spTree>
      <p:nvGrpSpPr>
        <p:cNvPr id="1" name=""/>
        <p:cNvGrpSpPr/>
        <p:nvPr/>
      </p:nvGrpSpPr>
      <p:grpSpPr/>
      <p:sp>
        <p:nvSpPr>
          <p:cNvPr id="2" name="Title 1"/>
          <p:cNvSpPr>
            <a:spLocks noGrp="1"/>
          </p:cNvSpPr>
          <p:nvPr>
            <p:ph type="title"/>
          </p:nvPr>
        </p:nvSpPr>
        <p:spPr/>
        <p:txBody>
          <a:bodyPr/>
          <a:lstStyle/>
          <a:p>
            <a:pPr>
              <a:defRPr sz="3600" b="1">
                <a:solidFill>
                  <a:srgbClr val="0A0A0A"/>
                </a:solidFill>
              </a:defRPr>
            </a:pPr>
            <a:r>
              <a:t>Conclusion</a:t>
            </a:r>
          </a:p>
        </p:txBody>
      </p:sp>
      <p:sp>
        <p:nvSpPr>
          <p:cNvPr id="3" name="Content Placeholder 2"/>
          <p:cNvSpPr>
            <a:spLocks noGrp="1"/>
          </p:cNvSpPr>
          <p:nvPr>
            <p:ph idx="1"/>
          </p:nvPr>
        </p:nvSpPr>
        <p:spPr/>
        <p:txBody>
          <a:bodyPr/>
          <a:lstStyle/>
          <a:p/>
          <a:p>
            <a:pPr marL="0" indent="0">
              <a:buNone/>
              <a:defRPr sz="1800">
                <a:solidFill>
                  <a:srgbClr val="282828"/>
                </a:solidFill>
              </a:defRPr>
            </a:pPr>
            <a:r>
              <a:rPr sz="1600"/>
              <a:t>The Legal Case Intelligent Search Engine successfully integrates hybrid information</a:t>
            </a:r>
            <a:endParaRPr sz="1600"/>
          </a:p>
          <a:p>
            <a:pPr marL="0" indent="0">
              <a:buNone/>
              <a:defRPr sz="1800">
                <a:solidFill>
                  <a:srgbClr val="282828"/>
                </a:solidFill>
              </a:defRPr>
            </a:pPr>
            <a:r>
              <a:rPr sz="1600"/>
              <a:t>retrieval, semantic modelling, clustering, and explainability features into a unified</a:t>
            </a:r>
            <a:endParaRPr sz="1600"/>
          </a:p>
          <a:p>
            <a:pPr marL="0" indent="0">
              <a:buNone/>
              <a:defRPr sz="1800">
                <a:solidFill>
                  <a:srgbClr val="282828"/>
                </a:solidFill>
              </a:defRPr>
            </a:pPr>
            <a:r>
              <a:rPr sz="1600"/>
              <a:t>framework tailored for legal research. Its ability to retrieve, organize, and recommend</a:t>
            </a:r>
            <a:endParaRPr sz="1600"/>
          </a:p>
          <a:p>
            <a:pPr marL="0" indent="0">
              <a:buNone/>
              <a:defRPr sz="1800">
                <a:solidFill>
                  <a:srgbClr val="282828"/>
                </a:solidFill>
              </a:defRPr>
            </a:pPr>
            <a:r>
              <a:rPr sz="1600"/>
              <a:t>cases based on meaning rather than mere keywords makes it significantly more </a:t>
            </a:r>
            <a:endParaRPr sz="1600"/>
          </a:p>
          <a:p>
            <a:pPr marL="0" indent="0">
              <a:buNone/>
              <a:defRPr sz="1800">
                <a:solidFill>
                  <a:srgbClr val="282828"/>
                </a:solidFill>
              </a:defRPr>
            </a:pPr>
            <a:r>
              <a:rPr sz="1600"/>
              <a:t>advanced than</a:t>
            </a:r>
            <a:r>
              <a:rPr lang="en-US" sz="1600"/>
              <a:t> </a:t>
            </a:r>
            <a:r>
              <a:rPr sz="1600"/>
              <a:t>traditional search tools. This project demonstrates how AI techniques can </a:t>
            </a:r>
            <a:endParaRPr sz="1600"/>
          </a:p>
          <a:p>
            <a:pPr marL="0" indent="0">
              <a:buNone/>
              <a:defRPr sz="1800">
                <a:solidFill>
                  <a:srgbClr val="282828"/>
                </a:solidFill>
              </a:defRPr>
            </a:pPr>
            <a:r>
              <a:rPr sz="1600"/>
              <a:t>modernize legal</a:t>
            </a:r>
            <a:r>
              <a:rPr lang="en-US" sz="1600"/>
              <a:t> </a:t>
            </a:r>
            <a:r>
              <a:rPr sz="1600"/>
              <a:t>research by offering precision, transparency, and depth. The system </a:t>
            </a:r>
            <a:endParaRPr sz="1600"/>
          </a:p>
          <a:p>
            <a:pPr marL="0" indent="0">
              <a:buNone/>
              <a:defRPr sz="1800">
                <a:solidFill>
                  <a:srgbClr val="282828"/>
                </a:solidFill>
              </a:defRPr>
            </a:pPr>
            <a:r>
              <a:rPr sz="1600"/>
              <a:t>forms a strong</a:t>
            </a:r>
            <a:r>
              <a:rPr lang="en-US" sz="1600"/>
              <a:t> </a:t>
            </a:r>
            <a:r>
              <a:rPr sz="1600"/>
              <a:t>foundation for future enhancements, including transformer-based </a:t>
            </a:r>
            <a:endParaRPr sz="1600"/>
          </a:p>
          <a:p>
            <a:pPr marL="0" indent="0">
              <a:buNone/>
              <a:defRPr sz="1800">
                <a:solidFill>
                  <a:srgbClr val="282828"/>
                </a:solidFill>
              </a:defRPr>
            </a:pPr>
            <a:r>
              <a:rPr sz="1600"/>
              <a:t>semantic models, web</a:t>
            </a:r>
            <a:r>
              <a:rPr lang="en-US" sz="1600"/>
              <a:t> </a:t>
            </a:r>
            <a:r>
              <a:rPr sz="1600"/>
              <a:t>deployment, classification modules, and large‑scale legal </a:t>
            </a:r>
            <a:endParaRPr sz="1600"/>
          </a:p>
          <a:p>
            <a:pPr marL="0" indent="0">
              <a:buNone/>
              <a:defRPr sz="1800">
                <a:solidFill>
                  <a:srgbClr val="282828"/>
                </a:solidFill>
              </a:defRPr>
            </a:pPr>
            <a:r>
              <a:rPr sz="1600"/>
              <a:t>analytics dashboards.</a:t>
            </a:r>
            <a:endParaRPr sz="1600"/>
          </a:p>
        </p:txBody>
      </p:sp>
    </p:spTree>
  </p:cSld>
  <p:clrMapOvr>
    <a:masterClrMapping/>
  </p:clrMapOvr>
</p:sld>
</file>

<file path=ppt/theme/theme1.xml><?xml version="1.0" encoding="utf-8"?>
<a:theme xmlns:a="http://schemas.openxmlformats.org/drawingml/2006/main" name="Business Cooperate">
  <a:themeElements>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siness Cooperate">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siness Cooper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usiness Cooper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usiness Cooper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usiness Cooper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usiness Cooper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usiness Cooper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usiness Cooper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usiness Cooper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usiness Cooper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usiness Cooper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usiness Cooper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15720</Words>
  <Application>WPS Presentation</Application>
  <PresentationFormat>On-screen Show (4:3)</PresentationFormat>
  <Paragraphs>222</Paragraphs>
  <Slides>21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Arial</vt:lpstr>
      <vt:lpstr>SimSun</vt:lpstr>
      <vt:lpstr>Wingdings</vt:lpstr>
      <vt:lpstr>Arial</vt:lpstr>
      <vt:lpstr>Calibri</vt:lpstr>
      <vt:lpstr>Microsoft YaHei</vt:lpstr>
      <vt:lpstr>Arial Unicode MS</vt:lpstr>
      <vt:lpstr>Wingdings</vt:lpstr>
      <vt:lpstr>Business Cooperate</vt:lpstr>
      <vt:lpstr>LEGAL CASE INTELLIGENT SEARCH ENGINE</vt:lpstr>
      <vt:lpstr>Introduction</vt:lpstr>
      <vt:lpstr>Problem Background</vt:lpstr>
      <vt:lpstr>Motivation</vt:lpstr>
      <vt:lpstr>Dataset Overview</vt:lpstr>
      <vt:lpstr>Preprocessing Pipeline</vt:lpstr>
      <vt:lpstr>Tokenization &amp; Lemmatization</vt:lpstr>
      <vt:lpstr>Legal Stopword Removal</vt:lpstr>
      <vt:lpstr>Citation &amp; Noise Cleaning</vt:lpstr>
      <vt:lpstr>Vectorization Methods</vt:lpstr>
      <vt:lpstr>BM25 Ranking Logic</vt:lpstr>
      <vt:lpstr>TF-IDF Importance</vt:lpstr>
      <vt:lpstr>LSA Semantic Modelling</vt:lpstr>
      <vt:lpstr>Hybrid Retrieval Engine</vt:lpstr>
      <vt:lpstr>KMeans Clustering</vt:lpstr>
      <vt:lpstr>Search Engine Workflow</vt:lpstr>
      <vt:lpstr>Explainability Features</vt:lpstr>
      <vt:lpstr>Recommendation System</vt:lpstr>
      <vt:lpstr>Filtering &amp; Year Logic</vt:lpstr>
      <vt:lpstr>System Evaluation</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pavan kalyan bommathotti  AP2</cp:lastModifiedBy>
  <cp:revision>3</cp:revision>
  <dcterms:created xsi:type="dcterms:W3CDTF">2013-01-27T09:14:00Z</dcterms:created>
  <dcterms:modified xsi:type="dcterms:W3CDTF">2025-12-07T16:10:58Z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083A6FE428944C579C562504C951359C_12</vt:lpwstr>
  </property>
  <property fmtid="{D5CDD505-2E9C-101B-9397-08002B2CF9AE}" pid="3" name="KSOProductBuildVer">
    <vt:lpwstr>1033-12.2.0.23155</vt:lpwstr>
  </property>
</Properties>
</file>